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70" r:id="rId4"/>
    <p:sldId id="269" r:id="rId5"/>
    <p:sldId id="268" r:id="rId6"/>
    <p:sldId id="267" r:id="rId7"/>
    <p:sldId id="266" r:id="rId8"/>
    <p:sldId id="265" r:id="rId9"/>
    <p:sldId id="264" r:id="rId10"/>
    <p:sldId id="263" r:id="rId11"/>
    <p:sldId id="262" r:id="rId12"/>
    <p:sldId id="261" r:id="rId13"/>
    <p:sldId id="260" r:id="rId14"/>
    <p:sldId id="259" r:id="rId15"/>
    <p:sldId id="258" r:id="rId16"/>
    <p:sldId id="257" r:id="rId17"/>
    <p:sldId id="256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52C430-D273-7074-63D7-C5D4238CE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A3A530-05AC-2E99-F0D8-D656DEA44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59D156-6070-3A7A-79D3-6D32346F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A04675-631A-A443-E33A-219D33F2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CAE8AE-BD38-CC76-E402-D2710EF7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90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8CF06-805A-6778-3473-AF0A4019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0AB647-9F84-1A16-D516-86267C301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DACE7D-F0AF-CF7F-B956-A53750CA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CB8CDF-A0A7-D666-C016-A52A409F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327666-BD1A-EEFD-96D7-6A413865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26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A0C7AB-95BF-D617-6A6A-096740D5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B29ABF-686C-816F-9D0A-5B19338CF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566B43-8453-48C5-B42F-93871F28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D814F5-A7CC-CFFE-F9A7-BDC3BF96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A7C3DE-5611-C8AA-0518-5C8CF6DC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803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93C86-0B5A-D65A-C879-6CFC8D71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A72EF3-3604-B27B-D627-29B52F072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F6C817-52A0-90E1-60F7-492EA132E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E18D5B-FB19-B485-4F4E-E5BA1279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BFCF79-AB4B-B38E-E6EE-E3353D5E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5F3FAB-27C4-5847-4BB8-FF7EB835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44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CCFAF2-7983-C8A5-E23B-BC84C8E8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E5D87A-5BC9-9DB8-5691-C445F8DDA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2C2A2A-8290-5D46-B1C7-84501D3D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E8CA98-0E32-6053-14D0-D0D04CD8F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2E95594-25A7-5F94-9C97-A4F8D85E7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65DC892-2C57-E866-D5F1-DDA09F9F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473AF90-4E54-9A26-DCB1-D9EACEC5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362903-FC9A-176D-C128-FEC08D44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270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D1CAAD-EC13-99FD-790F-DD291B35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FF6721-E130-07F1-D975-A144F0E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58ACD5-97A1-B98B-D83A-C86D00F3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4B28B7-1F0A-7D35-5D9A-2DE3FF79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73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CC281B4-C4C8-2832-24E1-0C1A6625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2E53F0-BC29-A025-5EE4-DC2BA1E7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70DD59-CB4F-F2FD-5626-8A3A3785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934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267A8-3165-0771-0E58-6E021FA6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1C7E1A-D5AB-FE26-FFF3-2143262E4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0EB755-A20F-014A-B6EF-C300D9F83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C039B3-50AD-F227-7C39-EFA93CD4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063992-1A7D-BD44-7D01-2FB151A7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C3E361-2DEE-5103-7CF2-77AFD931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36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59BC0-EF35-3A20-1C6A-6EA22609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23BF2A1-7D1B-B05A-8D50-E26E6D947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6EBEE0-6AAC-9CFB-1D26-1E6AEACB9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994D61-A3E8-7358-34E5-3EC6BA42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4A5FB3-4D24-714C-C8D4-CFBA8AB8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4C0900-A011-3E4A-97EE-B0EB63E1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75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57525C-A99D-FE36-D780-92179F03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6BAD4A-3ACC-7E71-F556-C746B7B31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D7792A-6BDF-C56A-8946-1CEAFF136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C4C4DF-C753-F15A-735A-1C6D60AC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E94DEF-82F4-C2DA-DF1E-C841D194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90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B520AC6-4362-BB51-14B1-FC6506BFB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BC643C-31E4-C52C-AAA4-DF8700071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5F5B3F-8A69-4C71-BE2B-A41EAF6E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4F4A54-74B7-E861-B133-CF694419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03DB20-6816-86B3-FC2F-F93C7BF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15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20F149-D814-2ABB-1464-42BE3EBD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6B0E46-9D04-743A-A356-9EB0A2EE6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E96157-76A6-ED60-E667-2F0A0E7DA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558B5-B188-4A5B-9858-74B91BC2D299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BF2B83-60EF-B32D-45ED-0429AFDAB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B352B9-0E60-748E-CBFF-241F83AFB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74E3C-18FA-4CC1-927A-4CB3DEE9EE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028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6E11A-ED34-669D-95E6-F2347F8B74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419C68-062E-F018-0C66-F60C9814E5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D71BC-C946-6411-127A-75D1017653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0FA29-B0CB-27E3-296E-674CE0100F17}"/>
              </a:ext>
            </a:extLst>
          </p:cNvPr>
          <p:cNvSpPr/>
          <p:nvPr/>
        </p:nvSpPr>
        <p:spPr>
          <a:xfrm>
            <a:off x="635000" y="2540000"/>
            <a:ext cx="6350000" cy="762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7AB0FA8-6D49-7D0A-C8A8-941F1BD8CF2A}"/>
              </a:ext>
            </a:extLst>
          </p:cNvPr>
          <p:cNvSpPr txBox="1"/>
          <p:nvPr/>
        </p:nvSpPr>
        <p:spPr>
          <a:xfrm>
            <a:off x="635000" y="635000"/>
            <a:ext cx="10160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5600" b="1">
                <a:solidFill>
                  <a:srgbClr val="FF0000"/>
                </a:solidFill>
              </a:rPr>
              <a:t>RestoPro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EDF1EED-09C0-657F-4DEF-FF7EAFF86270}"/>
              </a:ext>
            </a:extLst>
          </p:cNvPr>
          <p:cNvSpPr txBox="1"/>
          <p:nvPr/>
        </p:nvSpPr>
        <p:spPr>
          <a:xfrm>
            <a:off x="635000" y="2794000"/>
            <a:ext cx="1016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800">
                <a:solidFill>
                  <a:srgbClr val="FF0000"/>
                </a:solidFill>
              </a:rPr>
              <a:t>Solution Complete de Gestion de Restaurant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9B87B9E-049C-0153-2AF7-23DEB573DF2C}"/>
              </a:ext>
            </a:extLst>
          </p:cNvPr>
          <p:cNvSpPr txBox="1"/>
          <p:nvPr/>
        </p:nvSpPr>
        <p:spPr>
          <a:xfrm>
            <a:off x="635000" y="3556000"/>
            <a:ext cx="1092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FF0000"/>
                </a:solidFill>
              </a:rPr>
              <a:t>[x] Digitalisation complete du parcours client -- du scan QR au paiement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3F6AE48-18E2-31CB-7DF2-816A34F4C203}"/>
              </a:ext>
            </a:extLst>
          </p:cNvPr>
          <p:cNvSpPr txBox="1"/>
          <p:nvPr/>
        </p:nvSpPr>
        <p:spPr>
          <a:xfrm>
            <a:off x="635000" y="4000500"/>
            <a:ext cx="1092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FF0000"/>
                </a:solidFill>
              </a:rPr>
              <a:t>[x] Intelligence artificielle pour simplifier la commande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5433985-B726-4E58-83F8-4B2A4BAF4716}"/>
              </a:ext>
            </a:extLst>
          </p:cNvPr>
          <p:cNvSpPr txBox="1"/>
          <p:nvPr/>
        </p:nvSpPr>
        <p:spPr>
          <a:xfrm>
            <a:off x="635000" y="4445000"/>
            <a:ext cx="1092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FF0000"/>
                </a:solidFill>
              </a:rPr>
              <a:t>[x] Temps reel pour une coordination parfaite entre les equipes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7D6A48-FC9C-07D3-8CFE-3DB2F0C38E4E}"/>
              </a:ext>
            </a:extLst>
          </p:cNvPr>
          <p:cNvSpPr txBox="1"/>
          <p:nvPr/>
        </p:nvSpPr>
        <p:spPr>
          <a:xfrm>
            <a:off x="635000" y="4889500"/>
            <a:ext cx="1092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FF0000"/>
                </a:solidFill>
              </a:rPr>
              <a:t>[x] 9 roles avec permissions granulaires et modules dynamiques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DC2B066-EC06-2E3D-23C9-CBF431981030}"/>
              </a:ext>
            </a:extLst>
          </p:cNvPr>
          <p:cNvSpPr txBox="1"/>
          <p:nvPr/>
        </p:nvSpPr>
        <p:spPr>
          <a:xfrm>
            <a:off x="635000" y="5334000"/>
            <a:ext cx="1092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FF0000"/>
                </a:solidFill>
              </a:rPr>
              <a:t>[x] Multi-plateforme : API, Web, Mobile -- une experience unifiee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226FD40-A478-E24F-2BA4-C0C08ADFE946}"/>
              </a:ext>
            </a:extLst>
          </p:cNvPr>
          <p:cNvSpPr txBox="1"/>
          <p:nvPr/>
        </p:nvSpPr>
        <p:spPr>
          <a:xfrm>
            <a:off x="635000" y="5778500"/>
            <a:ext cx="1092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FF0000"/>
                </a:solidFill>
              </a:rPr>
              <a:t>[x] Monetisation integree : abonnements, codes, paiements mobiles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285FD2A-1476-1836-1FF4-00AAD48AFF47}"/>
              </a:ext>
            </a:extLst>
          </p:cNvPr>
          <p:cNvSpPr txBox="1"/>
          <p:nvPr/>
        </p:nvSpPr>
        <p:spPr>
          <a:xfrm>
            <a:off x="635000" y="6223000"/>
            <a:ext cx="1092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FF0000"/>
                </a:solidFill>
              </a:rPr>
              <a:t>[x] Pret pour le deploiement en production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0FA5835-A321-3013-55CE-DBEB3B1F8F08}"/>
              </a:ext>
            </a:extLst>
          </p:cNvPr>
          <p:cNvSpPr txBox="1"/>
          <p:nvPr/>
        </p:nvSpPr>
        <p:spPr>
          <a:xfrm>
            <a:off x="635000" y="6731000"/>
            <a:ext cx="254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>
                <a:solidFill>
                  <a:srgbClr val="E80000"/>
                </a:solidFill>
              </a:rPr>
              <a:t>_________________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4E15314-115C-E008-DC9E-8ABE895B1ED5}"/>
              </a:ext>
            </a:extLst>
          </p:cNvPr>
          <p:cNvSpPr txBox="1"/>
          <p:nvPr/>
        </p:nvSpPr>
        <p:spPr>
          <a:xfrm>
            <a:off x="635000" y="71120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710000"/>
                </a:solidFill>
              </a:rPr>
              <a:t>Stack : NestJS  |  MySQL  |  Socket.IO  |  Claude AI  |  React  |  React Native  |  Expo</a:t>
            </a:r>
          </a:p>
        </p:txBody>
      </p:sp>
    </p:spTree>
    <p:extLst>
      <p:ext uri="{BB962C8B-B14F-4D97-AF65-F5344CB8AC3E}">
        <p14:creationId xmlns:p14="http://schemas.microsoft.com/office/powerpoint/2010/main" val="367931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A262BA-21B1-69AD-1839-1997EC933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83A3F1-79C7-A25E-A629-ED878A3CA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6455B-8BCF-341F-4964-60CAE7DC0A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E4435-23CE-3B0A-6851-2241DE5861E8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1CED87D-39D0-1F86-4BF9-045789697925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Ecosysteme RestoPro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8F7F92-84A5-06A3-729C-DF18CAA3E8A7}"/>
              </a:ext>
            </a:extLst>
          </p:cNvPr>
          <p:cNvSpPr/>
          <p:nvPr/>
        </p:nvSpPr>
        <p:spPr>
          <a:xfrm>
            <a:off x="635000" y="1651000"/>
            <a:ext cx="3429000" cy="355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FA0E67-9A5D-AFAF-1F54-462C2ED66B24}"/>
              </a:ext>
            </a:extLst>
          </p:cNvPr>
          <p:cNvSpPr/>
          <p:nvPr/>
        </p:nvSpPr>
        <p:spPr>
          <a:xfrm>
            <a:off x="635000" y="1651000"/>
            <a:ext cx="3429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5384C8B-4816-E540-6DFF-2174B13F9303}"/>
              </a:ext>
            </a:extLst>
          </p:cNvPr>
          <p:cNvSpPr txBox="1"/>
          <p:nvPr/>
        </p:nvSpPr>
        <p:spPr>
          <a:xfrm>
            <a:off x="635000" y="1778000"/>
            <a:ext cx="3429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3600">
                <a:solidFill>
                  <a:srgbClr val="2C0000"/>
                </a:solidFill>
              </a:rPr>
              <a:t>RestoPro API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D333878-DA59-BC16-CF60-3512DCF63C8D}"/>
              </a:ext>
            </a:extLst>
          </p:cNvPr>
          <p:cNvSpPr txBox="1"/>
          <p:nvPr/>
        </p:nvSpPr>
        <p:spPr>
          <a:xfrm>
            <a:off x="635000" y="22860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200" b="1">
                <a:solidFill>
                  <a:srgbClr val="1B0000"/>
                </a:solidFill>
              </a:rPr>
              <a:t>RestoPro API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13982A6-6A27-6E2D-5317-1EC917696558}"/>
              </a:ext>
            </a:extLst>
          </p:cNvPr>
          <p:cNvSpPr txBox="1"/>
          <p:nvPr/>
        </p:nvSpPr>
        <p:spPr>
          <a:xfrm>
            <a:off x="635000" y="2730500"/>
            <a:ext cx="3429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710000"/>
                </a:solidFill>
              </a:rPr>
              <a:t>gestion-restaurant-api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60BDF14-2C0B-1AE4-3089-E5E9F40DE537}"/>
              </a:ext>
            </a:extLst>
          </p:cNvPr>
          <p:cNvSpPr txBox="1"/>
          <p:nvPr/>
        </p:nvSpPr>
        <p:spPr>
          <a:xfrm>
            <a:off x="762000" y="3175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NestJS 10 + TypeScript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A1F6ECF-B94C-C82C-5756-FC0EDD276BD9}"/>
              </a:ext>
            </a:extLst>
          </p:cNvPr>
          <p:cNvSpPr txBox="1"/>
          <p:nvPr/>
        </p:nvSpPr>
        <p:spPr>
          <a:xfrm>
            <a:off x="762000" y="3429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MySQL + Prisma ORM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22A7A00-6732-01F4-D207-EBB72C534AEB}"/>
              </a:ext>
            </a:extLst>
          </p:cNvPr>
          <p:cNvSpPr txBox="1"/>
          <p:nvPr/>
        </p:nvSpPr>
        <p:spPr>
          <a:xfrm>
            <a:off x="762000" y="3683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- 18 modules fonctionnels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86B29E-B9C6-B351-86AE-3255FF0ECF8A}"/>
              </a:ext>
            </a:extLst>
          </p:cNvPr>
          <p:cNvSpPr txBox="1"/>
          <p:nvPr/>
        </p:nvSpPr>
        <p:spPr>
          <a:xfrm>
            <a:off x="762000" y="3937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Socket.IO (temps reel)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73E77DE-43E1-A174-06C5-A43525605B31}"/>
              </a:ext>
            </a:extLst>
          </p:cNvPr>
          <p:cNvSpPr txBox="1"/>
          <p:nvPr/>
        </p:nvSpPr>
        <p:spPr>
          <a:xfrm>
            <a:off x="762000" y="419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JWT + Bcrypt + AES-256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E467BB5-EC03-51E3-6484-07947D15CD2B}"/>
              </a:ext>
            </a:extLst>
          </p:cNvPr>
          <p:cNvSpPr txBox="1"/>
          <p:nvPr/>
        </p:nvSpPr>
        <p:spPr>
          <a:xfrm>
            <a:off x="762000" y="4445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Claude AI (Anthropic SDK)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BFFB1C5-0A8F-E0B2-30F3-F3A2EE4110DC}"/>
              </a:ext>
            </a:extLst>
          </p:cNvPr>
          <p:cNvSpPr txBox="1"/>
          <p:nvPr/>
        </p:nvSpPr>
        <p:spPr>
          <a:xfrm>
            <a:off x="762000" y="4699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ESC/POS (impression)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3E580C-CE05-DC38-812B-C3DA877D4FDC}"/>
              </a:ext>
            </a:extLst>
          </p:cNvPr>
          <p:cNvSpPr txBox="1"/>
          <p:nvPr/>
        </p:nvSpPr>
        <p:spPr>
          <a:xfrm>
            <a:off x="762000" y="4953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QR codes dynamiques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B41F785-519E-F49A-F53F-31ABC2C70BCE}"/>
              </a:ext>
            </a:extLst>
          </p:cNvPr>
          <p:cNvSpPr txBox="1"/>
          <p:nvPr/>
        </p:nvSpPr>
        <p:spPr>
          <a:xfrm>
            <a:off x="762000" y="5207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Upload d'images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EA1E54B-4695-3245-31AB-D4AE56301481}"/>
              </a:ext>
            </a:extLst>
          </p:cNvPr>
          <p:cNvSpPr txBox="1"/>
          <p:nvPr/>
        </p:nvSpPr>
        <p:spPr>
          <a:xfrm>
            <a:off x="762000" y="546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Seeding de demo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12617E-BCDC-CBD3-2A9E-77D3DC945964}"/>
              </a:ext>
            </a:extLst>
          </p:cNvPr>
          <p:cNvSpPr/>
          <p:nvPr/>
        </p:nvSpPr>
        <p:spPr>
          <a:xfrm>
            <a:off x="4381500" y="1651000"/>
            <a:ext cx="3429000" cy="355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D6EAB9-F18B-FF34-5758-6FA4A63D5C08}"/>
              </a:ext>
            </a:extLst>
          </p:cNvPr>
          <p:cNvSpPr/>
          <p:nvPr/>
        </p:nvSpPr>
        <p:spPr>
          <a:xfrm>
            <a:off x="4381500" y="1651000"/>
            <a:ext cx="342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F5187EC-4860-3CAB-1A45-9D9CAE30229A}"/>
              </a:ext>
            </a:extLst>
          </p:cNvPr>
          <p:cNvSpPr txBox="1"/>
          <p:nvPr/>
        </p:nvSpPr>
        <p:spPr>
          <a:xfrm>
            <a:off x="4381500" y="1778000"/>
            <a:ext cx="3429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3600">
                <a:solidFill>
                  <a:srgbClr val="E80000"/>
                </a:solidFill>
              </a:rPr>
              <a:t>RestoPro Web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4D798A9-9085-D925-FCAC-2CB8BFFCDB9C}"/>
              </a:ext>
            </a:extLst>
          </p:cNvPr>
          <p:cNvSpPr txBox="1"/>
          <p:nvPr/>
        </p:nvSpPr>
        <p:spPr>
          <a:xfrm>
            <a:off x="4381500" y="22860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200" b="1">
                <a:solidFill>
                  <a:srgbClr val="1B0000"/>
                </a:solidFill>
              </a:rPr>
              <a:t>RestoPro Web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C45B7B1-28E2-235B-EF15-A3E9B85920E7}"/>
              </a:ext>
            </a:extLst>
          </p:cNvPr>
          <p:cNvSpPr txBox="1"/>
          <p:nvPr/>
        </p:nvSpPr>
        <p:spPr>
          <a:xfrm>
            <a:off x="4381500" y="2730500"/>
            <a:ext cx="3429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710000"/>
                </a:solidFill>
              </a:rPr>
              <a:t>gestion-restaurant-web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EF89EFF-C277-6675-03ED-9792372A8579}"/>
              </a:ext>
            </a:extLst>
          </p:cNvPr>
          <p:cNvSpPr txBox="1"/>
          <p:nvPr/>
        </p:nvSpPr>
        <p:spPr>
          <a:xfrm>
            <a:off x="4508500" y="3175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React + Vite + TypeScript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CFDA510-0B0B-71FF-E3DC-57BE8B00AEB5}"/>
              </a:ext>
            </a:extLst>
          </p:cNvPr>
          <p:cNvSpPr txBox="1"/>
          <p:nvPr/>
        </p:nvSpPr>
        <p:spPr>
          <a:xfrm>
            <a:off x="4508500" y="3429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Dashboard par role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242A54B-8F8C-D399-15EA-6FA872AF9FF2}"/>
              </a:ext>
            </a:extLst>
          </p:cNvPr>
          <p:cNvSpPr txBox="1"/>
          <p:nvPr/>
        </p:nvSpPr>
        <p:spPr>
          <a:xfrm>
            <a:off x="4508500" y="3683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Grille de tables interactive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5DB48A5-0D6A-10D3-57E2-E1E2E03AE709}"/>
              </a:ext>
            </a:extLst>
          </p:cNvPr>
          <p:cNvSpPr txBox="1"/>
          <p:nvPr/>
        </p:nvSpPr>
        <p:spPr>
          <a:xfrm>
            <a:off x="4508500" y="3937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CRUD menu avec variantes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3F0B940-28A3-BD50-B536-022C7823113A}"/>
              </a:ext>
            </a:extLst>
          </p:cNvPr>
          <p:cNvSpPr txBox="1"/>
          <p:nvPr/>
        </p:nvSpPr>
        <p:spPr>
          <a:xfrm>
            <a:off x="4508500" y="419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Caisse et factures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7D71393-D248-A686-C049-E0C33D896681}"/>
              </a:ext>
            </a:extLst>
          </p:cNvPr>
          <p:cNvSpPr txBox="1"/>
          <p:nvPr/>
        </p:nvSpPr>
        <p:spPr>
          <a:xfrm>
            <a:off x="4508500" y="4445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Planning et reservations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DACAD4FD-71F6-62D1-98C2-307135BDEAE0}"/>
              </a:ext>
            </a:extLst>
          </p:cNvPr>
          <p:cNvSpPr txBox="1"/>
          <p:nvPr/>
        </p:nvSpPr>
        <p:spPr>
          <a:xfrm>
            <a:off x="4508500" y="4699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Statistiques et graphiques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EF081DC-36C5-4652-7F26-827A072C637A}"/>
              </a:ext>
            </a:extLst>
          </p:cNvPr>
          <p:cNvSpPr txBox="1"/>
          <p:nvPr/>
        </p:nvSpPr>
        <p:spPr>
          <a:xfrm>
            <a:off x="4508500" y="4953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Socket.IO + badge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34369ED-7CBF-7E27-AA7A-E30DB9DAE16C}"/>
              </a:ext>
            </a:extLst>
          </p:cNvPr>
          <p:cNvSpPr txBox="1"/>
          <p:nvPr/>
        </p:nvSpPr>
        <p:spPr>
          <a:xfrm>
            <a:off x="4508500" y="5207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Mode hors-ligne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5E8F8E0-7024-3EB0-CB04-5DBE2ED8E91E}"/>
              </a:ext>
            </a:extLst>
          </p:cNvPr>
          <p:cNvSpPr txBox="1"/>
          <p:nvPr/>
        </p:nvSpPr>
        <p:spPr>
          <a:xfrm>
            <a:off x="4508500" y="546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Interface responsive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737848-F737-F333-9715-825B075D38E6}"/>
              </a:ext>
            </a:extLst>
          </p:cNvPr>
          <p:cNvSpPr/>
          <p:nvPr/>
        </p:nvSpPr>
        <p:spPr>
          <a:xfrm>
            <a:off x="8128000" y="1651000"/>
            <a:ext cx="3429000" cy="355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A50ABF-6F9D-A879-1141-8E6CD6ED6AFD}"/>
              </a:ext>
            </a:extLst>
          </p:cNvPr>
          <p:cNvSpPr/>
          <p:nvPr/>
        </p:nvSpPr>
        <p:spPr>
          <a:xfrm>
            <a:off x="8128000" y="1651000"/>
            <a:ext cx="3429000" cy="508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74C4558-7057-D666-A20E-B1386669C8CE}"/>
              </a:ext>
            </a:extLst>
          </p:cNvPr>
          <p:cNvSpPr txBox="1"/>
          <p:nvPr/>
        </p:nvSpPr>
        <p:spPr>
          <a:xfrm>
            <a:off x="8128000" y="1778000"/>
            <a:ext cx="3429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3600">
                <a:solidFill>
                  <a:srgbClr val="800000"/>
                </a:solidFill>
              </a:rPr>
              <a:t>RestoPro Mobile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E60BDA1-3391-8677-8B9F-D50FA5698150}"/>
              </a:ext>
            </a:extLst>
          </p:cNvPr>
          <p:cNvSpPr txBox="1"/>
          <p:nvPr/>
        </p:nvSpPr>
        <p:spPr>
          <a:xfrm>
            <a:off x="8128000" y="22860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200" b="1">
                <a:solidFill>
                  <a:srgbClr val="1B0000"/>
                </a:solidFill>
              </a:rPr>
              <a:t>RestoPro Mobile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E810DFD-CA53-1F8F-AA8F-199A6C2D93BD}"/>
              </a:ext>
            </a:extLst>
          </p:cNvPr>
          <p:cNvSpPr txBox="1"/>
          <p:nvPr/>
        </p:nvSpPr>
        <p:spPr>
          <a:xfrm>
            <a:off x="8128000" y="2730500"/>
            <a:ext cx="3429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710000"/>
                </a:solidFill>
              </a:rPr>
              <a:t>gestion-resto-mobile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78BB02A-E1A5-BE20-2E9A-1F9A2EC3FB80}"/>
              </a:ext>
            </a:extLst>
          </p:cNvPr>
          <p:cNvSpPr txBox="1"/>
          <p:nvPr/>
        </p:nvSpPr>
        <p:spPr>
          <a:xfrm>
            <a:off x="8255000" y="3175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React Native + Expo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1845760-6031-F1AE-20DD-F73DB9FE3769}"/>
              </a:ext>
            </a:extLst>
          </p:cNvPr>
          <p:cNvSpPr txBox="1"/>
          <p:nvPr/>
        </p:nvSpPr>
        <p:spPr>
          <a:xfrm>
            <a:off x="8255000" y="3429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Memes fonctionnalites que Web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75B617A-8359-9537-DE29-011FDEC69E15}"/>
              </a:ext>
            </a:extLst>
          </p:cNvPr>
          <p:cNvSpPr txBox="1"/>
          <p:nvPr/>
        </p:nvSpPr>
        <p:spPr>
          <a:xfrm>
            <a:off x="8255000" y="3683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Notifications push natives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081348F-F691-01E2-ED68-017FCD542620}"/>
              </a:ext>
            </a:extLst>
          </p:cNvPr>
          <p:cNvSpPr txBox="1"/>
          <p:nvPr/>
        </p:nvSpPr>
        <p:spPr>
          <a:xfrm>
            <a:off x="8255000" y="3937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Vibration (retour haptique)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FFC9737-DFB4-4DBE-F4E1-0C4179B9A8BA}"/>
              </a:ext>
            </a:extLst>
          </p:cNvPr>
          <p:cNvSpPr txBox="1"/>
          <p:nvPr/>
        </p:nvSpPr>
        <p:spPr>
          <a:xfrm>
            <a:off x="8255000" y="419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Appareil photo integre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D7DF97CE-C518-FE2B-1761-6C922042CEB1}"/>
              </a:ext>
            </a:extLst>
          </p:cNvPr>
          <p:cNvSpPr txBox="1"/>
          <p:nvPr/>
        </p:nvSpPr>
        <p:spPr>
          <a:xfrm>
            <a:off x="8255000" y="4445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Interface tactile optimisee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63299689-A81A-0A1F-85C3-3EFF25EBC803}"/>
              </a:ext>
            </a:extLst>
          </p:cNvPr>
          <p:cNvSpPr txBox="1"/>
          <p:nvPr/>
        </p:nvSpPr>
        <p:spPr>
          <a:xfrm>
            <a:off x="8255000" y="4699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Son de notification (WAV)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D078590A-26DC-552C-3928-9F7E20963799}"/>
              </a:ext>
            </a:extLst>
          </p:cNvPr>
          <p:cNvSpPr txBox="1"/>
          <p:nvPr/>
        </p:nvSpPr>
        <p:spPr>
          <a:xfrm>
            <a:off x="8255000" y="4953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Mode hors-ligne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69C4D918-4EF8-EE8D-A03A-B47876E9BF66}"/>
              </a:ext>
            </a:extLst>
          </p:cNvPr>
          <p:cNvSpPr txBox="1"/>
          <p:nvPr/>
        </p:nvSpPr>
        <p:spPr>
          <a:xfrm>
            <a:off x="8255000" y="5207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Toasts animes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14757D7-6B37-C21B-8E2A-B5E44A12AF21}"/>
              </a:ext>
            </a:extLst>
          </p:cNvPr>
          <p:cNvSpPr txBox="1"/>
          <p:nvPr/>
        </p:nvSpPr>
        <p:spPr>
          <a:xfrm>
            <a:off x="8255000" y="5461000"/>
            <a:ext cx="317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2D0000"/>
                </a:solidFill>
              </a:rPr>
              <a:t>- iOS + Android</a:t>
            </a:r>
          </a:p>
        </p:txBody>
      </p:sp>
    </p:spTree>
    <p:extLst>
      <p:ext uri="{BB962C8B-B14F-4D97-AF65-F5344CB8AC3E}">
        <p14:creationId xmlns:p14="http://schemas.microsoft.com/office/powerpoint/2010/main" val="222972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E9F890-44E3-74E0-8C21-82AC9CBBF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7DA0A1-0AC0-4115-C048-95E57D3353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9C51A6-C959-D867-3A25-599B7EBCDB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F2F0D6-107F-2F59-9B30-C9DD445C65FB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5A990A-B5B1-0AFE-E143-E3CCC65DCF9E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Statistiques et Analytics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B89873F-5DAE-A3DD-C88E-2563B18CFD56}"/>
              </a:ext>
            </a:extLst>
          </p:cNvPr>
          <p:cNvSpPr txBox="1"/>
          <p:nvPr/>
        </p:nvSpPr>
        <p:spPr>
          <a:xfrm>
            <a:off x="635000" y="16510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>
                <a:solidFill>
                  <a:srgbClr val="2D0000"/>
                </a:solidFill>
              </a:rPr>
              <a:t>Dashboard statistiques complet avec filtre par intervalle de date. Toutes les sections sont filtrees par la periode selectionnee (defaut : aujourd'hui).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5D5378-9621-E0C3-499D-F6CE5125FA33}"/>
              </a:ext>
            </a:extLst>
          </p:cNvPr>
          <p:cNvSpPr/>
          <p:nvPr/>
        </p:nvSpPr>
        <p:spPr>
          <a:xfrm>
            <a:off x="635000" y="22860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B9F29-492B-84D6-3576-DBDAD8EC38AB}"/>
              </a:ext>
            </a:extLst>
          </p:cNvPr>
          <p:cNvSpPr/>
          <p:nvPr/>
        </p:nvSpPr>
        <p:spPr>
          <a:xfrm>
            <a:off x="635000" y="22860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7FE7975-C4C2-532D-1484-2B893A529501}"/>
              </a:ext>
            </a:extLst>
          </p:cNvPr>
          <p:cNvSpPr txBox="1"/>
          <p:nvPr/>
        </p:nvSpPr>
        <p:spPr>
          <a:xfrm>
            <a:off x="736600" y="24130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Commandes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FAE676-D866-3E02-007D-4C47739F5919}"/>
              </a:ext>
            </a:extLst>
          </p:cNvPr>
          <p:cNvSpPr txBox="1"/>
          <p:nvPr/>
        </p:nvSpPr>
        <p:spPr>
          <a:xfrm>
            <a:off x="736600" y="27940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Total, Chiffre d'affaires,</a:t>
            </a:r>
          </a:p>
          <a:p>
            <a:r>
              <a:rPr lang="fr-FR" sz="1000">
                <a:solidFill>
                  <a:srgbClr val="2D0000"/>
                </a:solidFill>
              </a:rPr>
              <a:t>Panier moyen (cliquable)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9D133-618F-1358-242C-8B38E606473A}"/>
              </a:ext>
            </a:extLst>
          </p:cNvPr>
          <p:cNvSpPr/>
          <p:nvPr/>
        </p:nvSpPr>
        <p:spPr>
          <a:xfrm>
            <a:off x="2921000" y="22860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9154D9-9B25-88D5-8C8E-CC5A95344F19}"/>
              </a:ext>
            </a:extLst>
          </p:cNvPr>
          <p:cNvSpPr/>
          <p:nvPr/>
        </p:nvSpPr>
        <p:spPr>
          <a:xfrm>
            <a:off x="2921000" y="22860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3E18403-A865-95F7-8C70-4ED05D7094FB}"/>
              </a:ext>
            </a:extLst>
          </p:cNvPr>
          <p:cNvSpPr txBox="1"/>
          <p:nvPr/>
        </p:nvSpPr>
        <p:spPr>
          <a:xfrm>
            <a:off x="3022600" y="24130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Tables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4EE39E4-2075-798E-AE7E-3E1BC89F018D}"/>
              </a:ext>
            </a:extLst>
          </p:cNvPr>
          <p:cNvSpPr txBox="1"/>
          <p:nvPr/>
        </p:nvSpPr>
        <p:spPr>
          <a:xfrm>
            <a:off x="3022600" y="27940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Total, Occupation, CA moyen</a:t>
            </a:r>
          </a:p>
          <a:p>
            <a:r>
              <a:rPr lang="fr-FR" sz="1000">
                <a:solidFill>
                  <a:srgbClr val="2D0000"/>
                </a:solidFill>
              </a:rPr>
              <a:t>par table (cliquable)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400CC-F6E6-0112-C400-9EE85BE83004}"/>
              </a:ext>
            </a:extLst>
          </p:cNvPr>
          <p:cNvSpPr/>
          <p:nvPr/>
        </p:nvSpPr>
        <p:spPr>
          <a:xfrm>
            <a:off x="5207000" y="22860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5FCF9A-C434-5C7A-7C58-0957F06A7EBD}"/>
              </a:ext>
            </a:extLst>
          </p:cNvPr>
          <p:cNvSpPr/>
          <p:nvPr/>
        </p:nvSpPr>
        <p:spPr>
          <a:xfrm>
            <a:off x="5207000" y="22860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4F35251-A91B-288E-1524-58A8FFBB129E}"/>
              </a:ext>
            </a:extLst>
          </p:cNvPr>
          <p:cNvSpPr txBox="1"/>
          <p:nvPr/>
        </p:nvSpPr>
        <p:spPr>
          <a:xfrm>
            <a:off x="5308600" y="24130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Serveurs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EB7EC11-FB5F-0842-6DA3-8E5E3FFF6099}"/>
              </a:ext>
            </a:extLst>
          </p:cNvPr>
          <p:cNvSpPr txBox="1"/>
          <p:nvPr/>
        </p:nvSpPr>
        <p:spPr>
          <a:xfrm>
            <a:off x="5308600" y="27940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Performance avec barres,</a:t>
            </a:r>
          </a:p>
          <a:p>
            <a:r>
              <a:rPr lang="fr-FR" sz="1000">
                <a:solidFill>
                  <a:srgbClr val="2D0000"/>
                </a:solidFill>
              </a:rPr>
              <a:t>filtr par planning du jour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10897-2D0F-46A9-4FDE-AB1E6541F813}"/>
              </a:ext>
            </a:extLst>
          </p:cNvPr>
          <p:cNvSpPr/>
          <p:nvPr/>
        </p:nvSpPr>
        <p:spPr>
          <a:xfrm>
            <a:off x="7493000" y="22860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ABF891-EAA7-578A-FE68-3B2FA5AF4167}"/>
              </a:ext>
            </a:extLst>
          </p:cNvPr>
          <p:cNvSpPr/>
          <p:nvPr/>
        </p:nvSpPr>
        <p:spPr>
          <a:xfrm>
            <a:off x="7493000" y="22860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1E44E38-B7CB-BFA4-9773-7392E8D0FD55}"/>
              </a:ext>
            </a:extLst>
          </p:cNvPr>
          <p:cNvSpPr txBox="1"/>
          <p:nvPr/>
        </p:nvSpPr>
        <p:spPr>
          <a:xfrm>
            <a:off x="7594600" y="24130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Caissiers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3DE67F5-25F4-2F13-1172-6408941A59F0}"/>
              </a:ext>
            </a:extLst>
          </p:cNvPr>
          <p:cNvSpPr txBox="1"/>
          <p:nvPr/>
        </p:nvSpPr>
        <p:spPr>
          <a:xfrm>
            <a:off x="7594600" y="27940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Performance avec barres,</a:t>
            </a:r>
          </a:p>
          <a:p>
            <a:r>
              <a:rPr lang="fr-FR" sz="1000">
                <a:solidFill>
                  <a:srgbClr val="2D0000"/>
                </a:solidFill>
              </a:rPr>
              <a:t>CA par mode de paiement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C36FE-F862-7E26-6CA7-D6A5F72166CA}"/>
              </a:ext>
            </a:extLst>
          </p:cNvPr>
          <p:cNvSpPr/>
          <p:nvPr/>
        </p:nvSpPr>
        <p:spPr>
          <a:xfrm>
            <a:off x="9779000" y="22860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E8B7E3-903D-6C2E-E59C-C41176420CC4}"/>
              </a:ext>
            </a:extLst>
          </p:cNvPr>
          <p:cNvSpPr/>
          <p:nvPr/>
        </p:nvSpPr>
        <p:spPr>
          <a:xfrm>
            <a:off x="9779000" y="22860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64CE168-EC29-707D-4135-56B2A6044877}"/>
              </a:ext>
            </a:extLst>
          </p:cNvPr>
          <p:cNvSpPr txBox="1"/>
          <p:nvPr/>
        </p:nvSpPr>
        <p:spPr>
          <a:xfrm>
            <a:off x="9880600" y="24130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Top Plats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A264372-631B-C8ED-325A-9D7A2F3882D5}"/>
              </a:ext>
            </a:extLst>
          </p:cNvPr>
          <p:cNvSpPr txBox="1"/>
          <p:nvPr/>
        </p:nvSpPr>
        <p:spPr>
          <a:xfrm>
            <a:off x="9880600" y="27940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Classement par quantite</a:t>
            </a:r>
          </a:p>
          <a:p>
            <a:r>
              <a:rPr lang="fr-FR" sz="1000">
                <a:solidFill>
                  <a:srgbClr val="2D0000"/>
                </a:solidFill>
              </a:rPr>
              <a:t>vendue sur la periode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27B2B3-4FB5-DE0D-20BE-2F17F79E83A6}"/>
              </a:ext>
            </a:extLst>
          </p:cNvPr>
          <p:cNvSpPr/>
          <p:nvPr/>
        </p:nvSpPr>
        <p:spPr>
          <a:xfrm>
            <a:off x="635000" y="41275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E38AA1-B943-6181-A159-A3552F7D6ADF}"/>
              </a:ext>
            </a:extLst>
          </p:cNvPr>
          <p:cNvSpPr/>
          <p:nvPr/>
        </p:nvSpPr>
        <p:spPr>
          <a:xfrm>
            <a:off x="635000" y="41275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EED93C9-8B1A-EE8A-8857-6E0550C57362}"/>
              </a:ext>
            </a:extLst>
          </p:cNvPr>
          <p:cNvSpPr txBox="1"/>
          <p:nvPr/>
        </p:nvSpPr>
        <p:spPr>
          <a:xfrm>
            <a:off x="736600" y="42545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Plats Peu Vendus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19F0E5B-06DE-BE1C-2EEB-5EAEC01C496C}"/>
              </a:ext>
            </a:extLst>
          </p:cNvPr>
          <p:cNvSpPr txBox="1"/>
          <p:nvPr/>
        </p:nvSpPr>
        <p:spPr>
          <a:xfrm>
            <a:off x="736600" y="46355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Identification des plats</a:t>
            </a:r>
          </a:p>
          <a:p>
            <a:r>
              <a:rPr lang="fr-FR" sz="1000">
                <a:solidFill>
                  <a:srgbClr val="2D0000"/>
                </a:solidFill>
              </a:rPr>
              <a:t>a ameliorer ou supprimer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0DA704-3A91-9705-F4CB-1C109021B66E}"/>
              </a:ext>
            </a:extLst>
          </p:cNvPr>
          <p:cNvSpPr/>
          <p:nvPr/>
        </p:nvSpPr>
        <p:spPr>
          <a:xfrm>
            <a:off x="2921000" y="41275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1C5035-82A4-BE17-7568-395AB96C9DC3}"/>
              </a:ext>
            </a:extLst>
          </p:cNvPr>
          <p:cNvSpPr/>
          <p:nvPr/>
        </p:nvSpPr>
        <p:spPr>
          <a:xfrm>
            <a:off x="2921000" y="41275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96C94AD-0CC7-14AF-3FD3-763D4F358C9C}"/>
              </a:ext>
            </a:extLst>
          </p:cNvPr>
          <p:cNvSpPr txBox="1"/>
          <p:nvPr/>
        </p:nvSpPr>
        <p:spPr>
          <a:xfrm>
            <a:off x="3022600" y="42545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Affluence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C8AC6A0-EEFE-6BEA-0CCB-363032298836}"/>
              </a:ext>
            </a:extLst>
          </p:cNvPr>
          <p:cNvSpPr txBox="1"/>
          <p:nvPr/>
        </p:nvSpPr>
        <p:spPr>
          <a:xfrm>
            <a:off x="3022600" y="46355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Graphique par heure</a:t>
            </a:r>
          </a:p>
          <a:p>
            <a:r>
              <a:rPr lang="fr-FR" sz="1000">
                <a:solidFill>
                  <a:srgbClr val="2D0000"/>
                </a:solidFill>
              </a:rPr>
              <a:t>d'affluence du restaurant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43FAE1-07FC-462E-18D4-818E5962D86A}"/>
              </a:ext>
            </a:extLst>
          </p:cNvPr>
          <p:cNvSpPr/>
          <p:nvPr/>
        </p:nvSpPr>
        <p:spPr>
          <a:xfrm>
            <a:off x="5207000" y="41275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2906C7-65E7-AC54-D01D-120E5456D4CD}"/>
              </a:ext>
            </a:extLst>
          </p:cNvPr>
          <p:cNvSpPr/>
          <p:nvPr/>
        </p:nvSpPr>
        <p:spPr>
          <a:xfrm>
            <a:off x="5207000" y="41275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623E92E-1C78-956C-2A4E-ADCCE0368BF7}"/>
              </a:ext>
            </a:extLst>
          </p:cNvPr>
          <p:cNvSpPr txBox="1"/>
          <p:nvPr/>
        </p:nvSpPr>
        <p:spPr>
          <a:xfrm>
            <a:off x="5308600" y="42545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Ventes/Jour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2744200-3430-8281-F1B9-47F9F1605910}"/>
              </a:ext>
            </a:extLst>
          </p:cNvPr>
          <p:cNvSpPr txBox="1"/>
          <p:nvPr/>
        </p:nvSpPr>
        <p:spPr>
          <a:xfrm>
            <a:off x="5308600" y="46355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Evolution quotidienne</a:t>
            </a:r>
          </a:p>
          <a:p>
            <a:r>
              <a:rPr lang="fr-FR" sz="1000">
                <a:solidFill>
                  <a:srgbClr val="2D0000"/>
                </a:solidFill>
              </a:rPr>
              <a:t>du chiffre d'affaires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9EC3AB-8190-F1B5-F56E-0DE007E24FBA}"/>
              </a:ext>
            </a:extLst>
          </p:cNvPr>
          <p:cNvSpPr/>
          <p:nvPr/>
        </p:nvSpPr>
        <p:spPr>
          <a:xfrm>
            <a:off x="7493000" y="41275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DF8DB8-BD53-35A6-5F84-8343832810DA}"/>
              </a:ext>
            </a:extLst>
          </p:cNvPr>
          <p:cNvSpPr/>
          <p:nvPr/>
        </p:nvSpPr>
        <p:spPr>
          <a:xfrm>
            <a:off x="7493000" y="41275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B50B46A-74FB-D27E-23E2-972A41990843}"/>
              </a:ext>
            </a:extLst>
          </p:cNvPr>
          <p:cNvSpPr txBox="1"/>
          <p:nvPr/>
        </p:nvSpPr>
        <p:spPr>
          <a:xfrm>
            <a:off x="7594600" y="42545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Ventes/Mois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A350D19-84F3-F0DE-C3AC-2A2186EC363E}"/>
              </a:ext>
            </a:extLst>
          </p:cNvPr>
          <p:cNvSpPr txBox="1"/>
          <p:nvPr/>
        </p:nvSpPr>
        <p:spPr>
          <a:xfrm>
            <a:off x="7594600" y="46355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Evolution mensuelle</a:t>
            </a:r>
          </a:p>
          <a:p>
            <a:r>
              <a:rPr lang="fr-FR" sz="1000">
                <a:solidFill>
                  <a:srgbClr val="2D0000"/>
                </a:solidFill>
              </a:rPr>
              <a:t>du chiffre d'affaires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FA122A-7279-3F63-A317-3978273FC1D4}"/>
              </a:ext>
            </a:extLst>
          </p:cNvPr>
          <p:cNvSpPr/>
          <p:nvPr/>
        </p:nvSpPr>
        <p:spPr>
          <a:xfrm>
            <a:off x="9779000" y="4127500"/>
            <a:ext cx="2159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prstShdw prst="shdw1" dist="17961" dir="2700000">
              <a:scrgbClr r="0" g="0" b="0">
                <a:alpha val="2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E94D5C-ECB1-A700-2221-FDC263B35AE3}"/>
              </a:ext>
            </a:extLst>
          </p:cNvPr>
          <p:cNvSpPr/>
          <p:nvPr/>
        </p:nvSpPr>
        <p:spPr>
          <a:xfrm>
            <a:off x="9779000" y="4127500"/>
            <a:ext cx="2159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E7C22A54-628A-A196-A1F9-577A45F4B10B}"/>
              </a:ext>
            </a:extLst>
          </p:cNvPr>
          <p:cNvSpPr txBox="1"/>
          <p:nvPr/>
        </p:nvSpPr>
        <p:spPr>
          <a:xfrm>
            <a:off x="9880600" y="4254500"/>
            <a:ext cx="19558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1B0000"/>
                </a:solidFill>
              </a:rPr>
              <a:t>Marge Brute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180EB56-CC5E-99F2-CC18-35145B527A57}"/>
              </a:ext>
            </a:extLst>
          </p:cNvPr>
          <p:cNvSpPr txBox="1"/>
          <p:nvPr/>
        </p:nvSpPr>
        <p:spPr>
          <a:xfrm>
            <a:off x="9880600" y="46355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000">
                <a:solidFill>
                  <a:srgbClr val="2D0000"/>
                </a:solidFill>
              </a:rPr>
              <a:t>CA - Cout matieres premieres</a:t>
            </a:r>
          </a:p>
          <a:p>
            <a:r>
              <a:rPr lang="fr-FR" sz="1000">
                <a:solidFill>
                  <a:srgbClr val="2D0000"/>
                </a:solidFill>
              </a:rPr>
              <a:t>Rentabilite par plat</a:t>
            </a:r>
          </a:p>
        </p:txBody>
      </p:sp>
    </p:spTree>
    <p:extLst>
      <p:ext uri="{BB962C8B-B14F-4D97-AF65-F5344CB8AC3E}">
        <p14:creationId xmlns:p14="http://schemas.microsoft.com/office/powerpoint/2010/main" val="91207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9A0B6-08E1-B45A-56E5-03D03AF51E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90FA3E-A2C7-9E8A-D91D-82F4D3609B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DAC240-77AA-6D21-3386-0C24657E20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23276-80E4-759C-6232-B1B7DCBF7E08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52FC0BD-34EE-33E4-4995-38EBFDF1B5CE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Architecture Globale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BA2A7-6581-F74F-1B37-1FDB0EC352E4}"/>
              </a:ext>
            </a:extLst>
          </p:cNvPr>
          <p:cNvSpPr/>
          <p:nvPr/>
        </p:nvSpPr>
        <p:spPr>
          <a:xfrm>
            <a:off x="4191000" y="2159000"/>
            <a:ext cx="3810000" cy="12700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A03B861-98BE-AB7C-F4DA-D3C3B607B6E6}"/>
              </a:ext>
            </a:extLst>
          </p:cNvPr>
          <p:cNvSpPr txBox="1"/>
          <p:nvPr/>
        </p:nvSpPr>
        <p:spPr>
          <a:xfrm>
            <a:off x="4318000" y="2349500"/>
            <a:ext cx="3556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b="1">
                <a:solidFill>
                  <a:srgbClr val="FF0000"/>
                </a:solidFill>
              </a:rPr>
              <a:t>API NestJS</a:t>
            </a:r>
          </a:p>
          <a:p>
            <a:pPr algn="ctr"/>
            <a:r>
              <a:rPr lang="fr-FR" b="1">
                <a:solidFill>
                  <a:srgbClr val="FF0000"/>
                </a:solidFill>
              </a:rPr>
              <a:t>Port 3000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C15AE-D5C4-F5B4-1183-00C25E345155}"/>
              </a:ext>
            </a:extLst>
          </p:cNvPr>
          <p:cNvSpPr/>
          <p:nvPr/>
        </p:nvSpPr>
        <p:spPr>
          <a:xfrm>
            <a:off x="4191000" y="3937000"/>
            <a:ext cx="3810000" cy="635000"/>
          </a:xfrm>
          <a:prstGeom prst="rect">
            <a:avLst/>
          </a:prstGeom>
          <a:solidFill>
            <a:srgbClr val="E2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B000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7F18AEA-B533-3EEF-B3DF-3AF71C691C2C}"/>
              </a:ext>
            </a:extLst>
          </p:cNvPr>
          <p:cNvSpPr txBox="1"/>
          <p:nvPr/>
        </p:nvSpPr>
        <p:spPr>
          <a:xfrm>
            <a:off x="4318000" y="4064000"/>
            <a:ext cx="355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1B0000"/>
                </a:solidFill>
              </a:rPr>
              <a:t>MySQL 8 + Prisma ORM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80CF97-25F2-0B1C-B3D6-70DBDBF80E1E}"/>
              </a:ext>
            </a:extLst>
          </p:cNvPr>
          <p:cNvSpPr txBox="1"/>
          <p:nvPr/>
        </p:nvSpPr>
        <p:spPr>
          <a:xfrm>
            <a:off x="5969000" y="3556000"/>
            <a:ext cx="38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b="1">
                <a:solidFill>
                  <a:srgbClr val="1B0000"/>
                </a:solidFill>
              </a:rPr>
              <a:t>^ 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EB6F43-57D1-985A-BFA3-31C933688CD4}"/>
              </a:ext>
            </a:extLst>
          </p:cNvPr>
          <p:cNvSpPr/>
          <p:nvPr/>
        </p:nvSpPr>
        <p:spPr>
          <a:xfrm>
            <a:off x="635000" y="2159000"/>
            <a:ext cx="2794000" cy="12700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759CB4C-9AF9-BE1F-8F07-175F0AF64820}"/>
              </a:ext>
            </a:extLst>
          </p:cNvPr>
          <p:cNvSpPr txBox="1"/>
          <p:nvPr/>
        </p:nvSpPr>
        <p:spPr>
          <a:xfrm>
            <a:off x="762000" y="2349500"/>
            <a:ext cx="254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FF0000"/>
                </a:solidFill>
              </a:rPr>
              <a:t>React Native</a:t>
            </a:r>
          </a:p>
          <a:p>
            <a:pPr algn="ctr"/>
            <a:r>
              <a:rPr lang="fr-FR" sz="1600" b="1">
                <a:solidFill>
                  <a:srgbClr val="FF0000"/>
                </a:solidFill>
              </a:rPr>
              <a:t>Expo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E0513B-7860-85B1-F3C2-57E0DFD5C690}"/>
              </a:ext>
            </a:extLst>
          </p:cNvPr>
          <p:cNvSpPr/>
          <p:nvPr/>
        </p:nvSpPr>
        <p:spPr>
          <a:xfrm>
            <a:off x="8128000" y="2159000"/>
            <a:ext cx="2794000" cy="12700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E49790-F35C-9C53-AC33-79E11D284622}"/>
              </a:ext>
            </a:extLst>
          </p:cNvPr>
          <p:cNvSpPr txBox="1"/>
          <p:nvPr/>
        </p:nvSpPr>
        <p:spPr>
          <a:xfrm>
            <a:off x="8255000" y="2349500"/>
            <a:ext cx="254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FF0000"/>
                </a:solidFill>
              </a:rPr>
              <a:t>React + Vite</a:t>
            </a:r>
          </a:p>
          <a:p>
            <a:pPr algn="ctr"/>
            <a:r>
              <a:rPr lang="fr-FR" sz="1600" b="1">
                <a:solidFill>
                  <a:srgbClr val="FF0000"/>
                </a:solidFill>
              </a:rPr>
              <a:t>Dashboard Web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C688CE-E165-9830-ACD3-418CE62DDAE9}"/>
              </a:ext>
            </a:extLst>
          </p:cNvPr>
          <p:cNvSpPr/>
          <p:nvPr/>
        </p:nvSpPr>
        <p:spPr>
          <a:xfrm>
            <a:off x="635000" y="4064000"/>
            <a:ext cx="2794000" cy="635000"/>
          </a:xfrm>
          <a:prstGeom prst="rect">
            <a:avLst/>
          </a:prstGeom>
          <a:solidFill>
            <a:srgbClr val="3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31556C-0CC1-E537-1FBD-B1022B42670D}"/>
              </a:ext>
            </a:extLst>
          </p:cNvPr>
          <p:cNvSpPr txBox="1"/>
          <p:nvPr/>
        </p:nvSpPr>
        <p:spPr>
          <a:xfrm>
            <a:off x="762000" y="4165600"/>
            <a:ext cx="254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300" b="1">
                <a:solidFill>
                  <a:srgbClr val="FF0000"/>
                </a:solidFill>
              </a:rPr>
              <a:t>Client QR Code</a:t>
            </a:r>
          </a:p>
          <a:p>
            <a:pPr algn="ctr"/>
            <a:r>
              <a:rPr lang="fr-FR" sz="1300" b="1">
                <a:solidFill>
                  <a:srgbClr val="FF0000"/>
                </a:solidFill>
              </a:rPr>
              <a:t>HTML5 + JS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96C4D-4CB2-1679-C580-109DCC45FC2F}"/>
              </a:ext>
            </a:extLst>
          </p:cNvPr>
          <p:cNvSpPr/>
          <p:nvPr/>
        </p:nvSpPr>
        <p:spPr>
          <a:xfrm>
            <a:off x="8128000" y="4064000"/>
            <a:ext cx="2794000" cy="635000"/>
          </a:xfrm>
          <a:prstGeom prst="rect">
            <a:avLst/>
          </a:prstGeom>
          <a:solidFill>
            <a:srgbClr val="71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46D9CB2-BBAF-3EBB-240F-0DE081316608}"/>
              </a:ext>
            </a:extLst>
          </p:cNvPr>
          <p:cNvSpPr txBox="1"/>
          <p:nvPr/>
        </p:nvSpPr>
        <p:spPr>
          <a:xfrm>
            <a:off x="8255000" y="4165600"/>
            <a:ext cx="254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300" b="1">
                <a:solidFill>
                  <a:srgbClr val="FF0000"/>
                </a:solidFill>
              </a:rPr>
              <a:t>Imprimante Thermique</a:t>
            </a:r>
          </a:p>
          <a:p>
            <a:pPr algn="ctr"/>
            <a:r>
              <a:rPr lang="fr-FR" sz="1300" b="1">
                <a:solidFill>
                  <a:srgbClr val="FF0000"/>
                </a:solidFill>
              </a:rPr>
              <a:t>ESC/POS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5BA0CAF-8A7E-7370-5250-0DE3DCB5E8D0}"/>
              </a:ext>
            </a:extLst>
          </p:cNvPr>
          <p:cNvSpPr txBox="1"/>
          <p:nvPr/>
        </p:nvSpPr>
        <p:spPr>
          <a:xfrm>
            <a:off x="3556000" y="2540000"/>
            <a:ext cx="76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000" b="1">
                <a:solidFill>
                  <a:srgbClr val="710000"/>
                </a:solidFill>
              </a:rPr>
              <a:t>--&gt;  &lt;--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1BD51E-4C13-5BD0-ACA3-D399B2C942FF}"/>
              </a:ext>
            </a:extLst>
          </p:cNvPr>
          <p:cNvSpPr txBox="1"/>
          <p:nvPr/>
        </p:nvSpPr>
        <p:spPr>
          <a:xfrm>
            <a:off x="8001000" y="2540000"/>
            <a:ext cx="76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000" b="1">
                <a:solidFill>
                  <a:srgbClr val="710000"/>
                </a:solidFill>
              </a:rPr>
              <a:t>--&gt;  &lt;--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899C7F2-9AB4-B82F-AE16-5F6D7FC288E1}"/>
              </a:ext>
            </a:extLst>
          </p:cNvPr>
          <p:cNvSpPr txBox="1"/>
          <p:nvPr/>
        </p:nvSpPr>
        <p:spPr>
          <a:xfrm>
            <a:off x="635000" y="50800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E80000"/>
                </a:solidFill>
              </a:rPr>
              <a:t>Socket.IO (WebSocket) - Temps Reel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5817A49-47E5-0020-EBBB-6FC638DB1409}"/>
              </a:ext>
            </a:extLst>
          </p:cNvPr>
          <p:cNvSpPr txBox="1"/>
          <p:nvPr/>
        </p:nvSpPr>
        <p:spPr>
          <a:xfrm>
            <a:off x="635000" y="55880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710000"/>
                </a:solidFill>
              </a:rPr>
              <a:t>JWT 12h + Bcrypt  |  Guards par role  |  AES-256 (codes)  |  CORS configurable  |  Uploads/  |  QR dynamiques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B9C8696-B071-1B3A-165A-318A65883EE3}"/>
              </a:ext>
            </a:extLst>
          </p:cNvPr>
          <p:cNvSpPr txBox="1"/>
          <p:nvPr/>
        </p:nvSpPr>
        <p:spPr>
          <a:xfrm>
            <a:off x="635000" y="6032500"/>
            <a:ext cx="1092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710000"/>
                </a:solidFill>
              </a:rPr>
              <a:t>Modules NestJS : auth . users . restaurant . tables . zones . menu . commandes . paiement . planning . serveur-table . notifications . statistiques . reservations . evaluations . printer . activation . ai . socket</a:t>
            </a:r>
          </a:p>
        </p:txBody>
      </p:sp>
    </p:spTree>
    <p:extLst>
      <p:ext uri="{BB962C8B-B14F-4D97-AF65-F5344CB8AC3E}">
        <p14:creationId xmlns:p14="http://schemas.microsoft.com/office/powerpoint/2010/main" val="3845573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D4345-A01D-CA22-2857-50172660E0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8CC6E2-BF14-84B7-3CD7-7255B2D71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153AA-09BC-2A07-BA9B-ED7B4DDE27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79519-4BF5-3B9D-5956-3FBFE6A37611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7524E81-5BDE-AF3B-63F3-4A493B1DEC1F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Abonnement et Monetisation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2C4F9-C962-C4B8-AB80-FBEECE9AD45E}"/>
              </a:ext>
            </a:extLst>
          </p:cNvPr>
          <p:cNvSpPr/>
          <p:nvPr/>
        </p:nvSpPr>
        <p:spPr>
          <a:xfrm>
            <a:off x="635000" y="1524000"/>
            <a:ext cx="5334000" cy="1905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EA262-75A9-D1D1-C8B5-D59AE79658B8}"/>
              </a:ext>
            </a:extLst>
          </p:cNvPr>
          <p:cNvSpPr/>
          <p:nvPr/>
        </p:nvSpPr>
        <p:spPr>
          <a:xfrm>
            <a:off x="635000" y="1524000"/>
            <a:ext cx="5334000" cy="50800"/>
          </a:xfrm>
          <a:prstGeom prst="rect">
            <a:avLst/>
          </a:prstGeom>
          <a:solidFill>
            <a:srgbClr val="3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3E5807E-5E4C-C8E6-5268-9CAF31D125D0}"/>
              </a:ext>
            </a:extLst>
          </p:cNvPr>
          <p:cNvSpPr txBox="1"/>
          <p:nvPr/>
        </p:nvSpPr>
        <p:spPr>
          <a:xfrm>
            <a:off x="889000" y="16510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380000"/>
                </a:solidFill>
              </a:rPr>
              <a:t>Trial Gratuit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C3A4D4E-468E-B069-E5D1-1DD916AD51AE}"/>
              </a:ext>
            </a:extLst>
          </p:cNvPr>
          <p:cNvSpPr txBox="1"/>
          <p:nvPr/>
        </p:nvSpPr>
        <p:spPr>
          <a:xfrm>
            <a:off x="889000" y="21336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- 14 jours d'essai automatique a la creation du restaurant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A745ABE-570D-6BB1-4F49-DD0E1719F927}"/>
              </a:ext>
            </a:extLst>
          </p:cNvPr>
          <p:cNvSpPr txBox="1"/>
          <p:nvPr/>
        </p:nvSpPr>
        <p:spPr>
          <a:xfrm>
            <a:off x="889000" y="24384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Toutes les fonctionnalites disponibles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7B7B359-F8A7-97D7-FE7F-774742846D25}"/>
              </a:ext>
            </a:extLst>
          </p:cNvPr>
          <p:cNvSpPr txBox="1"/>
          <p:nvPr/>
        </p:nvSpPr>
        <p:spPr>
          <a:xfrm>
            <a:off x="889000" y="27432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Aucune carte bancaire requise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DCD6AE-B644-B319-BD4B-B7CE1053D2E2}"/>
              </a:ext>
            </a:extLst>
          </p:cNvPr>
          <p:cNvSpPr txBox="1"/>
          <p:nvPr/>
        </p:nvSpPr>
        <p:spPr>
          <a:xfrm>
            <a:off x="889000" y="30480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Expiration --&gt; l'admin doit activer un abonnement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EF2ABB-5A5C-EB7C-99EA-34DEE46F4481}"/>
              </a:ext>
            </a:extLst>
          </p:cNvPr>
          <p:cNvSpPr/>
          <p:nvPr/>
        </p:nvSpPr>
        <p:spPr>
          <a:xfrm>
            <a:off x="6223000" y="1524000"/>
            <a:ext cx="5334000" cy="1905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35FFE0-EA17-4A75-C5A7-9BCD1D268276}"/>
              </a:ext>
            </a:extLst>
          </p:cNvPr>
          <p:cNvSpPr/>
          <p:nvPr/>
        </p:nvSpPr>
        <p:spPr>
          <a:xfrm>
            <a:off x="6223000" y="1524000"/>
            <a:ext cx="5334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88D61E8-E5AA-DCF9-172E-E2EEEA4BE907}"/>
              </a:ext>
            </a:extLst>
          </p:cNvPr>
          <p:cNvSpPr txBox="1"/>
          <p:nvPr/>
        </p:nvSpPr>
        <p:spPr>
          <a:xfrm>
            <a:off x="6477000" y="16510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E80000"/>
                </a:solidFill>
              </a:rPr>
              <a:t>Plans d'Abonnement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F4EFE40-F52E-AD9D-778D-B4B6EF360DBA}"/>
              </a:ext>
            </a:extLst>
          </p:cNvPr>
          <p:cNvSpPr txBox="1"/>
          <p:nvPr/>
        </p:nvSpPr>
        <p:spPr>
          <a:xfrm>
            <a:off x="6477000" y="21336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MENSUEL : 30 jours -- ideal pour tester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8754F08-71A5-6888-0952-D20434783638}"/>
              </a:ext>
            </a:extLst>
          </p:cNvPr>
          <p:cNvSpPr txBox="1"/>
          <p:nvPr/>
        </p:nvSpPr>
        <p:spPr>
          <a:xfrm>
            <a:off x="6477000" y="24384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TRIMESTRIEL : 90 jours -- rapport qualite/prix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B5924D-BB1E-85E7-6029-DF500BCC5300}"/>
              </a:ext>
            </a:extLst>
          </p:cNvPr>
          <p:cNvSpPr txBox="1"/>
          <p:nvPr/>
        </p:nvSpPr>
        <p:spPr>
          <a:xfrm>
            <a:off x="6477000" y="27432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ANNUEL : 365 jours -- meilleure valeur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4202578-6F4C-BA68-729D-796A0F2D6C2B}"/>
              </a:ext>
            </a:extLst>
          </p:cNvPr>
          <p:cNvSpPr txBox="1"/>
          <p:nvPr/>
        </p:nvSpPr>
        <p:spPr>
          <a:xfrm>
            <a:off x="6477000" y="30480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Prix et disponibilite geres par le Super Admin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1EEDE2-F5E2-5D40-95DE-D6051EFF05E9}"/>
              </a:ext>
            </a:extLst>
          </p:cNvPr>
          <p:cNvSpPr/>
          <p:nvPr/>
        </p:nvSpPr>
        <p:spPr>
          <a:xfrm>
            <a:off x="635000" y="3683000"/>
            <a:ext cx="5334000" cy="1905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8A327-01EF-58D6-3C60-4BF1755A2F7B}"/>
              </a:ext>
            </a:extLst>
          </p:cNvPr>
          <p:cNvSpPr/>
          <p:nvPr/>
        </p:nvSpPr>
        <p:spPr>
          <a:xfrm>
            <a:off x="635000" y="3683000"/>
            <a:ext cx="5334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AFA9915-B21D-2206-405B-5AE6733A65F7}"/>
              </a:ext>
            </a:extLst>
          </p:cNvPr>
          <p:cNvSpPr txBox="1"/>
          <p:nvPr/>
        </p:nvSpPr>
        <p:spPr>
          <a:xfrm>
            <a:off x="889000" y="38100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2C0000"/>
                </a:solidFill>
              </a:rPr>
              <a:t>Codes d'Activation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518572-23FE-E69C-1600-490DEB37FD03}"/>
              </a:ext>
            </a:extLst>
          </p:cNvPr>
          <p:cNvSpPr txBox="1"/>
          <p:nvPr/>
        </p:nvSpPr>
        <p:spPr>
          <a:xfrm>
            <a:off x="889000" y="42926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Chiffres en AES-256 dans la base de donnees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F43D553-5583-10E2-96EA-DE6966FA8A8F}"/>
              </a:ext>
            </a:extLst>
          </p:cNvPr>
          <p:cNvSpPr txBox="1"/>
          <p:nvPr/>
        </p:nvSpPr>
        <p:spPr>
          <a:xfrm>
            <a:off x="889000" y="45974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Generes par le Super Admin (duree personnalisable)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3D58218-BC11-1669-D353-CB2C0EB8A1C0}"/>
              </a:ext>
            </a:extLst>
          </p:cNvPr>
          <p:cNvSpPr txBox="1"/>
          <p:nvPr/>
        </p:nvSpPr>
        <p:spPr>
          <a:xfrm>
            <a:off x="889000" y="49022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Durees : 30j, 1 an, 2 ans, 3 ans, 4 ans, 5 ans, ou duree libre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806E81B-B38A-AB2C-647C-77BFEC2C343B}"/>
              </a:ext>
            </a:extLst>
          </p:cNvPr>
          <p:cNvSpPr txBox="1"/>
          <p:nvPr/>
        </p:nvSpPr>
        <p:spPr>
          <a:xfrm>
            <a:off x="889000" y="52070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Historique complet d'utilisation consultable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AC0C3C-B51C-8B3D-9018-E78C2D73AA47}"/>
              </a:ext>
            </a:extLst>
          </p:cNvPr>
          <p:cNvSpPr/>
          <p:nvPr/>
        </p:nvSpPr>
        <p:spPr>
          <a:xfrm>
            <a:off x="6223000" y="3683000"/>
            <a:ext cx="5334000" cy="1905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61CFF6-1BBB-48A8-BF0D-84C52970E2A9}"/>
              </a:ext>
            </a:extLst>
          </p:cNvPr>
          <p:cNvSpPr/>
          <p:nvPr/>
        </p:nvSpPr>
        <p:spPr>
          <a:xfrm>
            <a:off x="6223000" y="3683000"/>
            <a:ext cx="5334000" cy="508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AA16642-A9BC-DAEF-6530-FDD352072ED4}"/>
              </a:ext>
            </a:extLst>
          </p:cNvPr>
          <p:cNvSpPr txBox="1"/>
          <p:nvPr/>
        </p:nvSpPr>
        <p:spPr>
          <a:xfrm>
            <a:off x="6477000" y="38100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800000"/>
                </a:solidFill>
              </a:rPr>
              <a:t>Paiement Mobile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D0A2399-FF4F-2D0F-5DEB-F0928C6B002B}"/>
              </a:ext>
            </a:extLst>
          </p:cNvPr>
          <p:cNvSpPr txBox="1"/>
          <p:nvPr/>
        </p:nvSpPr>
        <p:spPr>
          <a:xfrm>
            <a:off x="6477000" y="42926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Wave et Orange Money (Cote d'Ivoire)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C145110-C6BB-EB6C-78C8-D0EEF5EFEB44}"/>
              </a:ext>
            </a:extLst>
          </p:cNvPr>
          <p:cNvSpPr txBox="1"/>
          <p:nvPr/>
        </p:nvSpPr>
        <p:spPr>
          <a:xfrm>
            <a:off x="6477000" y="45974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Instructions de paiement configurables dans .env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F9652FA-34CF-3DB1-CDFA-492D199DAEC0}"/>
              </a:ext>
            </a:extLst>
          </p:cNvPr>
          <p:cNvSpPr txBox="1"/>
          <p:nvPr/>
        </p:nvSpPr>
        <p:spPr>
          <a:xfrm>
            <a:off x="6477000" y="49022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L'admin initie puis saisit les infos de paiement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DEE229B-58DD-E59E-E1F9-D617032136A1}"/>
              </a:ext>
            </a:extLst>
          </p:cNvPr>
          <p:cNvSpPr txBox="1"/>
          <p:nvPr/>
        </p:nvSpPr>
        <p:spPr>
          <a:xfrm>
            <a:off x="6477000" y="52070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Le Super Admin verifie et confirme ou rejette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0EC152E-9162-2565-DBD8-D99B50467213}"/>
              </a:ext>
            </a:extLst>
          </p:cNvPr>
          <p:cNvSpPr txBox="1"/>
          <p:nvPr/>
        </p:nvSpPr>
        <p:spPr>
          <a:xfrm>
            <a:off x="6477000" y="5511800"/>
            <a:ext cx="482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Confirmation --&gt; abonnement prolonge automatiquement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F94FB77-37A7-6FB0-E257-1477C84AE4D5}"/>
              </a:ext>
            </a:extLst>
          </p:cNvPr>
          <p:cNvSpPr txBox="1"/>
          <p:nvPr/>
        </p:nvSpPr>
        <p:spPr>
          <a:xfrm>
            <a:off x="635000" y="58420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E50000"/>
                </a:solidFill>
              </a:rPr>
              <a:t>Notifications auto : &gt; 50% restant = toutes les 24h  |  &lt;= 50% restant = toutes les 3h  |  Tous les utilisateurs notifies</a:t>
            </a:r>
          </a:p>
        </p:txBody>
      </p:sp>
    </p:spTree>
    <p:extLst>
      <p:ext uri="{BB962C8B-B14F-4D97-AF65-F5344CB8AC3E}">
        <p14:creationId xmlns:p14="http://schemas.microsoft.com/office/powerpoint/2010/main" val="357387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C23E3-19C4-BA12-CFD7-067CCEAAC5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EA9502-163F-0005-5E9D-D15BB48C3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7AA806-476C-EA8B-74B3-93914D7F79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BF2EA-A640-07F7-1236-5F7FC5AD6128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7133847-941F-40A1-3B8E-D8A3784DEF00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Notifications Temps Reel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2EA35D3-CE40-C61E-3693-690B425C0811}"/>
              </a:ext>
            </a:extLst>
          </p:cNvPr>
          <p:cNvSpPr txBox="1"/>
          <p:nvPr/>
        </p:nvSpPr>
        <p:spPr>
          <a:xfrm>
            <a:off x="635000" y="1651000"/>
            <a:ext cx="3810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2C0000"/>
                </a:solidFill>
              </a:rPr>
              <a:t>Canaux de notification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960A6A0-7C61-833D-7010-13A821142C68}"/>
              </a:ext>
            </a:extLst>
          </p:cNvPr>
          <p:cNvSpPr txBox="1"/>
          <p:nvPr/>
        </p:nvSpPr>
        <p:spPr>
          <a:xfrm>
            <a:off x="635000" y="2095500"/>
            <a:ext cx="533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2D0000"/>
                </a:solidFill>
              </a:rPr>
              <a:t>Toasts visuels -- react-native-toast-message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D2EF5EB-4B6E-D806-B1C6-2AB60E8A6633}"/>
              </a:ext>
            </a:extLst>
          </p:cNvPr>
          <p:cNvSpPr txBox="1"/>
          <p:nvPr/>
        </p:nvSpPr>
        <p:spPr>
          <a:xfrm>
            <a:off x="635000" y="23495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710000"/>
                </a:solidFill>
              </a:rPr>
              <a:t>Design 3D avec animations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D367A85-C16C-B161-FA6B-6E07C540E4D5}"/>
              </a:ext>
            </a:extLst>
          </p:cNvPr>
          <p:cNvSpPr txBox="1"/>
          <p:nvPr/>
        </p:nvSpPr>
        <p:spPr>
          <a:xfrm>
            <a:off x="635000" y="2451100"/>
            <a:ext cx="533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2D0000"/>
                </a:solidFill>
              </a:rPr>
              <a:t>Son -- expo-av (WAV)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13ADA59-2C39-73AF-EFA0-0C11A50F6283}"/>
              </a:ext>
            </a:extLst>
          </p:cNvPr>
          <p:cNvSpPr txBox="1"/>
          <p:nvPr/>
        </p:nvSpPr>
        <p:spPr>
          <a:xfrm>
            <a:off x="635000" y="27051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710000"/>
                </a:solidFill>
              </a:rPr>
              <a:t>Bip sonore a chaque evenement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B7110B7-7C40-2C72-37CC-36312162E518}"/>
              </a:ext>
            </a:extLst>
          </p:cNvPr>
          <p:cNvSpPr txBox="1"/>
          <p:nvPr/>
        </p:nvSpPr>
        <p:spPr>
          <a:xfrm>
            <a:off x="635000" y="2806700"/>
            <a:ext cx="533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2D0000"/>
                </a:solidFill>
              </a:rPr>
              <a:t>Vibration -- React Native Vibration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847D36C-261C-FE9A-4853-88703A09786C}"/>
              </a:ext>
            </a:extLst>
          </p:cNvPr>
          <p:cNvSpPr txBox="1"/>
          <p:nvPr/>
        </p:nvSpPr>
        <p:spPr>
          <a:xfrm>
            <a:off x="635000" y="30607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710000"/>
                </a:solidFill>
              </a:rPr>
              <a:t>Retour haptique sur mobile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34A9029-7A44-2559-8606-7D6A772F2CF1}"/>
              </a:ext>
            </a:extLst>
          </p:cNvPr>
          <p:cNvSpPr txBox="1"/>
          <p:nvPr/>
        </p:nvSpPr>
        <p:spPr>
          <a:xfrm>
            <a:off x="635000" y="3162300"/>
            <a:ext cx="533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2D0000"/>
                </a:solidFill>
              </a:rPr>
              <a:t>Socket.IO -- WebSocket temps reel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574986A-FE86-BB31-F3B2-D8B6C79E14C0}"/>
              </a:ext>
            </a:extLst>
          </p:cNvPr>
          <p:cNvSpPr txBox="1"/>
          <p:nvPr/>
        </p:nvSpPr>
        <p:spPr>
          <a:xfrm>
            <a:off x="635000" y="34163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710000"/>
                </a:solidFill>
              </a:rPr>
              <a:t>Connexion persistante bidirectionnelle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B150F62-EBA6-BD2A-6788-38CA40879FF8}"/>
              </a:ext>
            </a:extLst>
          </p:cNvPr>
          <p:cNvSpPr txBox="1"/>
          <p:nvPr/>
        </p:nvSpPr>
        <p:spPr>
          <a:xfrm>
            <a:off x="635000" y="3517900"/>
            <a:ext cx="533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 b="1">
                <a:solidFill>
                  <a:srgbClr val="2D0000"/>
                </a:solidFill>
              </a:rPr>
              <a:t>Badge compteur -- Sidebar + Tab bar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2038BA2-2921-3DB6-BC2D-89664A0A69DD}"/>
              </a:ext>
            </a:extLst>
          </p:cNvPr>
          <p:cNvSpPr txBox="1"/>
          <p:nvPr/>
        </p:nvSpPr>
        <p:spPr>
          <a:xfrm>
            <a:off x="635000" y="3771900"/>
            <a:ext cx="533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710000"/>
                </a:solidFill>
              </a:rPr>
              <a:t>Nombre de notifications en attente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2C16862-207F-D270-7B81-51D7AA1B7194}"/>
              </a:ext>
            </a:extLst>
          </p:cNvPr>
          <p:cNvSpPr txBox="1"/>
          <p:nvPr/>
        </p:nvSpPr>
        <p:spPr>
          <a:xfrm>
            <a:off x="6350000" y="1651000"/>
            <a:ext cx="5080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E80000"/>
                </a:solidFill>
              </a:rPr>
              <a:t>Evenements Socket.IO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7BF7EB-9C3B-E106-46AA-0C6722D560EF}"/>
              </a:ext>
            </a:extLst>
          </p:cNvPr>
          <p:cNvSpPr/>
          <p:nvPr/>
        </p:nvSpPr>
        <p:spPr>
          <a:xfrm>
            <a:off x="6350000" y="20955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76A0540-9646-1DFC-AD39-63E1FDCB4316}"/>
              </a:ext>
            </a:extLst>
          </p:cNvPr>
          <p:cNvSpPr txBox="1"/>
          <p:nvPr/>
        </p:nvSpPr>
        <p:spPr>
          <a:xfrm>
            <a:off x="6413500" y="21336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nouvelle_commande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E5673A3-C7F8-1B1F-C0BB-ACE7838811A2}"/>
              </a:ext>
            </a:extLst>
          </p:cNvPr>
          <p:cNvSpPr txBox="1"/>
          <p:nvPr/>
        </p:nvSpPr>
        <p:spPr>
          <a:xfrm>
            <a:off x="6413500" y="21336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Serveur / Receptionniste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2D2695-1AA5-A772-A17C-240FFBD0F51C}"/>
              </a:ext>
            </a:extLst>
          </p:cNvPr>
          <p:cNvSpPr/>
          <p:nvPr/>
        </p:nvSpPr>
        <p:spPr>
          <a:xfrm>
            <a:off x="6350000" y="24511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14CF546-A325-6352-0F2B-987E27FBB7A7}"/>
              </a:ext>
            </a:extLst>
          </p:cNvPr>
          <p:cNvSpPr txBox="1"/>
          <p:nvPr/>
        </p:nvSpPr>
        <p:spPr>
          <a:xfrm>
            <a:off x="6413500" y="24892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nouvelle_commande_cuisine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6CCBFEF-0FF2-C2C1-DF52-A4EBF7343FE1}"/>
              </a:ext>
            </a:extLst>
          </p:cNvPr>
          <p:cNvSpPr txBox="1"/>
          <p:nvPr/>
        </p:nvSpPr>
        <p:spPr>
          <a:xfrm>
            <a:off x="6413500" y="24892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Cuisine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699898-B8FB-CA8B-F2B0-4F1AB0DAF3E5}"/>
              </a:ext>
            </a:extLst>
          </p:cNvPr>
          <p:cNvSpPr/>
          <p:nvPr/>
        </p:nvSpPr>
        <p:spPr>
          <a:xfrm>
            <a:off x="6350000" y="28067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5E29671-5A85-4329-7513-7237DA52B5F8}"/>
              </a:ext>
            </a:extLst>
          </p:cNvPr>
          <p:cNvSpPr txBox="1"/>
          <p:nvPr/>
        </p:nvSpPr>
        <p:spPr>
          <a:xfrm>
            <a:off x="6413500" y="2844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nouvelle_commande_bar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D3B7325-DF49-1CFB-81AB-6857B7B6D0DC}"/>
              </a:ext>
            </a:extLst>
          </p:cNvPr>
          <p:cNvSpPr txBox="1"/>
          <p:nvPr/>
        </p:nvSpPr>
        <p:spPr>
          <a:xfrm>
            <a:off x="6413500" y="28448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Bar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4210D4-8DB1-DC60-1266-34B488096B54}"/>
              </a:ext>
            </a:extLst>
          </p:cNvPr>
          <p:cNvSpPr/>
          <p:nvPr/>
        </p:nvSpPr>
        <p:spPr>
          <a:xfrm>
            <a:off x="6350000" y="31623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E31AD0F-92C8-BB00-458F-235364752345}"/>
              </a:ext>
            </a:extLst>
          </p:cNvPr>
          <p:cNvSpPr txBox="1"/>
          <p:nvPr/>
        </p:nvSpPr>
        <p:spPr>
          <a:xfrm>
            <a:off x="6413500" y="32004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commande_status_change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F579A0F-98C2-7D79-D95B-81B7E8E2BE0C}"/>
              </a:ext>
            </a:extLst>
          </p:cNvPr>
          <p:cNvSpPr txBox="1"/>
          <p:nvPr/>
        </p:nvSpPr>
        <p:spPr>
          <a:xfrm>
            <a:off x="6413500" y="32004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Serveur + Admin + Reception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A5386B-02EE-7511-FA86-799E9FD8642B}"/>
              </a:ext>
            </a:extLst>
          </p:cNvPr>
          <p:cNvSpPr/>
          <p:nvPr/>
        </p:nvSpPr>
        <p:spPr>
          <a:xfrm>
            <a:off x="6350000" y="35179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AEEC92D-933D-6B23-55C0-16E6C026F186}"/>
              </a:ext>
            </a:extLst>
          </p:cNvPr>
          <p:cNvSpPr txBox="1"/>
          <p:nvPr/>
        </p:nvSpPr>
        <p:spPr>
          <a:xfrm>
            <a:off x="6413500" y="35560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commande_pret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65642FC-5269-4CB7-AD29-2E15E82DEE71}"/>
              </a:ext>
            </a:extLst>
          </p:cNvPr>
          <p:cNvSpPr txBox="1"/>
          <p:nvPr/>
        </p:nvSpPr>
        <p:spPr>
          <a:xfrm>
            <a:off x="6413500" y="35560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Serveur + Admin + Reception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811A77-7FF8-BD17-44B5-341278D0553B}"/>
              </a:ext>
            </a:extLst>
          </p:cNvPr>
          <p:cNvSpPr/>
          <p:nvPr/>
        </p:nvSpPr>
        <p:spPr>
          <a:xfrm>
            <a:off x="6350000" y="38735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A5649DC-198A-9A19-80AC-2E194EADB310}"/>
              </a:ext>
            </a:extLst>
          </p:cNvPr>
          <p:cNvSpPr txBox="1"/>
          <p:nvPr/>
        </p:nvSpPr>
        <p:spPr>
          <a:xfrm>
            <a:off x="6413500" y="39116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demande_facture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9E2DB4A-B84D-CE81-D93D-222F2135C615}"/>
              </a:ext>
            </a:extLst>
          </p:cNvPr>
          <p:cNvSpPr txBox="1"/>
          <p:nvPr/>
        </p:nvSpPr>
        <p:spPr>
          <a:xfrm>
            <a:off x="6413500" y="39116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Serveur + Admin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27858E-7CC4-1EFB-D640-4A8643195617}"/>
              </a:ext>
            </a:extLst>
          </p:cNvPr>
          <p:cNvSpPr/>
          <p:nvPr/>
        </p:nvSpPr>
        <p:spPr>
          <a:xfrm>
            <a:off x="6350000" y="42291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EB068AF-5B03-B6D2-94BC-3EE695472FAC}"/>
              </a:ext>
            </a:extLst>
          </p:cNvPr>
          <p:cNvSpPr txBox="1"/>
          <p:nvPr/>
        </p:nvSpPr>
        <p:spPr>
          <a:xfrm>
            <a:off x="6413500" y="42672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nouvelle_livraison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17C84A5-F023-24E2-2813-A4788D18F6C8}"/>
              </a:ext>
            </a:extLst>
          </p:cNvPr>
          <p:cNvSpPr txBox="1"/>
          <p:nvPr/>
        </p:nvSpPr>
        <p:spPr>
          <a:xfrm>
            <a:off x="6413500" y="42672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Livreurs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CDEDD3-1CF4-1942-F6F5-DD7F26B4194B}"/>
              </a:ext>
            </a:extLst>
          </p:cNvPr>
          <p:cNvSpPr/>
          <p:nvPr/>
        </p:nvSpPr>
        <p:spPr>
          <a:xfrm>
            <a:off x="6350000" y="45847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F6ECBB8-BAD2-F617-3C55-878E498C1EB5}"/>
              </a:ext>
            </a:extLst>
          </p:cNvPr>
          <p:cNvSpPr txBox="1"/>
          <p:nvPr/>
        </p:nvSpPr>
        <p:spPr>
          <a:xfrm>
            <a:off x="6413500" y="4622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livraison_assignee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385E1D3B-4C63-06BD-B3B3-0A80E744B359}"/>
              </a:ext>
            </a:extLst>
          </p:cNvPr>
          <p:cNvSpPr txBox="1"/>
          <p:nvPr/>
        </p:nvSpPr>
        <p:spPr>
          <a:xfrm>
            <a:off x="6413500" y="46228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Livreur specifique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A8BA7C-170B-8D1C-8102-0EC393C7E41D}"/>
              </a:ext>
            </a:extLst>
          </p:cNvPr>
          <p:cNvSpPr/>
          <p:nvPr/>
        </p:nvSpPr>
        <p:spPr>
          <a:xfrm>
            <a:off x="6350000" y="4940300"/>
            <a:ext cx="5207000" cy="330200"/>
          </a:xfrm>
          <a:prstGeom prst="rect">
            <a:avLst/>
          </a:prstGeom>
          <a:solidFill>
            <a:srgbClr val="E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29004A9-BF89-1963-21C9-9D5F7A259A1F}"/>
              </a:ext>
            </a:extLst>
          </p:cNvPr>
          <p:cNvSpPr txBox="1"/>
          <p:nvPr/>
        </p:nvSpPr>
        <p:spPr>
          <a:xfrm>
            <a:off x="6413500" y="49784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1B0000"/>
                </a:solidFill>
              </a:rPr>
              <a:t>commande_status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E9D1B671-D564-C0EF-13C6-00429FC791DD}"/>
              </a:ext>
            </a:extLst>
          </p:cNvPr>
          <p:cNvSpPr txBox="1"/>
          <p:nvPr/>
        </p:nvSpPr>
        <p:spPr>
          <a:xfrm>
            <a:off x="6413500" y="4978400"/>
            <a:ext cx="254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fr-FR" sz="1100">
                <a:solidFill>
                  <a:srgbClr val="710000"/>
                </a:solidFill>
              </a:rPr>
              <a:t>--&gt; Client (table)</a:t>
            </a:r>
          </a:p>
        </p:txBody>
      </p:sp>
    </p:spTree>
    <p:extLst>
      <p:ext uri="{BB962C8B-B14F-4D97-AF65-F5344CB8AC3E}">
        <p14:creationId xmlns:p14="http://schemas.microsoft.com/office/powerpoint/2010/main" val="15254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AA9C05-7CBD-5572-D343-BE1A42FA3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C5A77A9-1AE6-93C9-ED39-AA95AAC019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E38F0B-41B5-870B-9FF9-D87D6639CB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13F3E-FD1B-2046-2187-D3A57553C303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835C17-AFF0-C1F8-AEA7-372A83722C9D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Assistant IA -- Claude (Anthropic)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EDA640-2874-E1D2-2D66-D4785ABD1990}"/>
              </a:ext>
            </a:extLst>
          </p:cNvPr>
          <p:cNvSpPr txBox="1"/>
          <p:nvPr/>
        </p:nvSpPr>
        <p:spPr>
          <a:xfrm>
            <a:off x="635000" y="1651000"/>
            <a:ext cx="10922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2D0000"/>
                </a:solidFill>
              </a:rPr>
              <a:t>Le client peut commander par texte ou par voix. L'IA Claude analyse le message et retrouve les plats correspondants dans le menu du restaurant.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7049A1-5461-6788-FCBB-01662E808E4A}"/>
              </a:ext>
            </a:extLst>
          </p:cNvPr>
          <p:cNvSpPr/>
          <p:nvPr/>
        </p:nvSpPr>
        <p:spPr>
          <a:xfrm>
            <a:off x="635000" y="2413000"/>
            <a:ext cx="10922000" cy="2540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96E3FE3-B33F-286C-38C7-A3E0C6B24275}"/>
              </a:ext>
            </a:extLst>
          </p:cNvPr>
          <p:cNvSpPr txBox="1"/>
          <p:nvPr/>
        </p:nvSpPr>
        <p:spPr>
          <a:xfrm>
            <a:off x="889000" y="2540000"/>
            <a:ext cx="5080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2C0000"/>
                </a:solidFill>
              </a:rPr>
              <a:t>Comment ca marche ?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32663A-15FF-A523-A3D0-823643968EDE}"/>
              </a:ext>
            </a:extLst>
          </p:cNvPr>
          <p:cNvSpPr txBox="1"/>
          <p:nvPr/>
        </p:nvSpPr>
        <p:spPr>
          <a:xfrm>
            <a:off x="889000" y="29845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1. Le client dicte ou tape : 'Je voudrais 2 poulets braises et un riz gras'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76C3136-1711-96AB-A887-898B974B6FB3}"/>
              </a:ext>
            </a:extLst>
          </p:cNvPr>
          <p:cNvSpPr txBox="1"/>
          <p:nvPr/>
        </p:nvSpPr>
        <p:spPr>
          <a:xfrm>
            <a:off x="889000" y="33020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2. L'API envoie le message + le menu complet a Claude via l'Anthropic SDK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46585CD-6DE0-08CB-D521-3500B70D6C84}"/>
              </a:ext>
            </a:extLst>
          </p:cNvPr>
          <p:cNvSpPr txBox="1"/>
          <p:nvPr/>
        </p:nvSpPr>
        <p:spPr>
          <a:xfrm>
            <a:off x="889000" y="36195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3. Claude analyse et identifie les plats (meme avec des variations de nom)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935E464-042C-1B79-27FF-8A03D28F4D1A}"/>
              </a:ext>
            </a:extLst>
          </p:cNvPr>
          <p:cNvSpPr txBox="1"/>
          <p:nvPr/>
        </p:nvSpPr>
        <p:spPr>
          <a:xfrm>
            <a:off x="889000" y="39370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4. Les articles sont retournes avec prix, quantites et variantes detectees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9DCE235-BF05-A8AE-8DA2-0DA914DCA32B}"/>
              </a:ext>
            </a:extLst>
          </p:cNvPr>
          <p:cNvSpPr txBox="1"/>
          <p:nvPr/>
        </p:nvSpPr>
        <p:spPr>
          <a:xfrm>
            <a:off x="889000" y="42545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5. Le client verifie et confirme --&gt; les articles sont ajoutes au panier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07394FE-8973-7D90-7F2F-3B0915CC3E04}"/>
              </a:ext>
            </a:extLst>
          </p:cNvPr>
          <p:cNvSpPr txBox="1"/>
          <p:nvPr/>
        </p:nvSpPr>
        <p:spPr>
          <a:xfrm>
            <a:off x="889000" y="45720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6. Si un plat n'existe pas, Claude propose le plus proche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FB2D191-FCA5-9FEE-0C1E-DDB21190F20C}"/>
              </a:ext>
            </a:extLst>
          </p:cNvPr>
          <p:cNvSpPr txBox="1"/>
          <p:nvPr/>
        </p:nvSpPr>
        <p:spPr>
          <a:xfrm>
            <a:off x="889000" y="5207000"/>
            <a:ext cx="3810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E80000"/>
                </a:solidFill>
              </a:rPr>
              <a:t>Avantages concurrentiels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D8F1431-36B7-0839-E4FF-560372E57524}"/>
              </a:ext>
            </a:extLst>
          </p:cNvPr>
          <p:cNvSpPr txBox="1"/>
          <p:nvPr/>
        </p:nvSpPr>
        <p:spPr>
          <a:xfrm>
            <a:off x="889000" y="55880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[Voix] Commande vocale : le client parle, l'IA comprend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B616C49-CF48-9489-BF21-3FB1806BB1EC}"/>
              </a:ext>
            </a:extLst>
          </p:cNvPr>
          <p:cNvSpPr txBox="1"/>
          <p:nvPr/>
        </p:nvSpPr>
        <p:spPr>
          <a:xfrm>
            <a:off x="889000" y="5943600"/>
            <a:ext cx="508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[IA] Comprehension contextuelle : 'la meme chose' = repete la derniere commande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635AF0F-A602-FA0C-CE5D-92DDBA51084A}"/>
              </a:ext>
            </a:extLst>
          </p:cNvPr>
          <p:cNvSpPr txBox="1"/>
          <p:nvPr/>
        </p:nvSpPr>
        <p:spPr>
          <a:xfrm>
            <a:off x="889000" y="62992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[Langue] Multilingue : comprend le francais, les expressions locales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017B699-B338-7914-C23C-B6FCBCFD200B}"/>
              </a:ext>
            </a:extLst>
          </p:cNvPr>
          <p:cNvSpPr txBox="1"/>
          <p:nvPr/>
        </p:nvSpPr>
        <p:spPr>
          <a:xfrm>
            <a:off x="889000" y="66548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[Vitesse] Instantane : reponse en &lt; 2 secondes, l'experience est fluide</a:t>
            </a:r>
          </a:p>
        </p:txBody>
      </p:sp>
    </p:spTree>
    <p:extLst>
      <p:ext uri="{BB962C8B-B14F-4D97-AF65-F5344CB8AC3E}">
        <p14:creationId xmlns:p14="http://schemas.microsoft.com/office/powerpoint/2010/main" val="1133072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E47309-EAA3-4F99-A505-0BAABA62EF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A09726-0B50-711E-2C6C-9002869C0A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780F9-D9F0-3EE1-76CC-DEFC31A504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53F38-5379-603F-E63D-19160E9130C0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DCB647-01D2-9E02-CD72-CAA5EDDB7036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Caisse et Paiements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453A0-7848-1883-35E0-F77A5B55FAE4}"/>
              </a:ext>
            </a:extLst>
          </p:cNvPr>
          <p:cNvSpPr/>
          <p:nvPr/>
        </p:nvSpPr>
        <p:spPr>
          <a:xfrm>
            <a:off x="635000" y="1524000"/>
            <a:ext cx="5334000" cy="419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C32EC4-5F0A-3537-DECE-243174D5FACB}"/>
              </a:ext>
            </a:extLst>
          </p:cNvPr>
          <p:cNvSpPr/>
          <p:nvPr/>
        </p:nvSpPr>
        <p:spPr>
          <a:xfrm>
            <a:off x="635000" y="1524000"/>
            <a:ext cx="5334000" cy="50800"/>
          </a:xfrm>
          <a:prstGeom prst="rect">
            <a:avLst/>
          </a:prstGeom>
          <a:solidFill>
            <a:srgbClr val="3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3CA9BF5-3B0A-A99A-82FE-3B3260D4335E}"/>
              </a:ext>
            </a:extLst>
          </p:cNvPr>
          <p:cNvSpPr txBox="1"/>
          <p:nvPr/>
        </p:nvSpPr>
        <p:spPr>
          <a:xfrm>
            <a:off x="889000" y="16510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380000"/>
                </a:solidFill>
              </a:rPr>
              <a:t>Fonctionnalites Caisse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58E9B6-BE9C-A09E-7835-27CB1DB764BC}"/>
              </a:ext>
            </a:extLst>
          </p:cNvPr>
          <p:cNvSpPr txBox="1"/>
          <p:nvPr/>
        </p:nvSpPr>
        <p:spPr>
          <a:xfrm>
            <a:off x="889000" y="20955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Recherche rapide par numero CMD-XXXX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CE8BF69-C147-B30A-1150-51C48EC380F9}"/>
              </a:ext>
            </a:extLst>
          </p:cNvPr>
          <p:cNvSpPr txBox="1"/>
          <p:nvPr/>
        </p:nvSpPr>
        <p:spPr>
          <a:xfrm>
            <a:off x="889000" y="24257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Remises : pourcentage (%) ou montant fixe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40ED9B4-BF48-7924-F880-29DE106FE462}"/>
              </a:ext>
            </a:extLst>
          </p:cNvPr>
          <p:cNvSpPr txBox="1"/>
          <p:nvPr/>
        </p:nvSpPr>
        <p:spPr>
          <a:xfrm>
            <a:off x="889000" y="27559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Facture automatique FAC-AAAAMMJJ-XXXX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67AFAD3-0179-F80C-D91D-98A6E5CB299A}"/>
              </a:ext>
            </a:extLst>
          </p:cNvPr>
          <p:cNvSpPr txBox="1"/>
          <p:nvPr/>
        </p:nvSpPr>
        <p:spPr>
          <a:xfrm>
            <a:off x="889000" y="30861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Recu : apercu puis impression thermique ou HTML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28FCD28-6949-DBE7-F7B6-35C49B15B31C}"/>
              </a:ext>
            </a:extLst>
          </p:cNvPr>
          <p:cNvSpPr txBox="1"/>
          <p:nvPr/>
        </p:nvSpPr>
        <p:spPr>
          <a:xfrm>
            <a:off x="889000" y="34163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- 3 modes de paiement : Especes, Mobile Money, CB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F0C4D6-470B-ADB1-76F1-9D7EEF2E6E88}"/>
              </a:ext>
            </a:extLst>
          </p:cNvPr>
          <p:cNvSpPr txBox="1"/>
          <p:nvPr/>
        </p:nvSpPr>
        <p:spPr>
          <a:xfrm>
            <a:off x="889000" y="37465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Cloture caissier (fin de shift) : bilan individuel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7834266-E184-F71E-0DE9-23BDEF908FF2}"/>
              </a:ext>
            </a:extLst>
          </p:cNvPr>
          <p:cNvSpPr txBox="1"/>
          <p:nvPr/>
        </p:nvSpPr>
        <p:spPr>
          <a:xfrm>
            <a:off x="889000" y="40767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Cloture globale (admin) : fermeture restaurant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130747D-003F-1195-37AD-2502D969EE6F}"/>
              </a:ext>
            </a:extLst>
          </p:cNvPr>
          <p:cNvSpPr txBox="1"/>
          <p:nvPr/>
        </p:nvSpPr>
        <p:spPr>
          <a:xfrm>
            <a:off x="889000" y="44069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Reouverture automatique a la date/heure programmee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17AE0E8-9F2E-322A-3170-37C8C79EF036}"/>
              </a:ext>
            </a:extLst>
          </p:cNvPr>
          <p:cNvSpPr txBox="1"/>
          <p:nvPr/>
        </p:nvSpPr>
        <p:spPr>
          <a:xfrm>
            <a:off x="889000" y="47371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Historique complet avec reimpression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20252F0-F83A-429E-48B3-EBBCBAE81655}"/>
              </a:ext>
            </a:extLst>
          </p:cNvPr>
          <p:cNvSpPr txBox="1"/>
          <p:nvPr/>
        </p:nvSpPr>
        <p:spPr>
          <a:xfrm>
            <a:off x="889000" y="50673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Caisse directe : commande + paiement en une etape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370D8E-AAA1-AF06-348D-0BE5A58B19EE}"/>
              </a:ext>
            </a:extLst>
          </p:cNvPr>
          <p:cNvSpPr/>
          <p:nvPr/>
        </p:nvSpPr>
        <p:spPr>
          <a:xfrm>
            <a:off x="6223000" y="1524000"/>
            <a:ext cx="5334000" cy="419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0125EB-7A68-FF09-5D14-1B9A70678E17}"/>
              </a:ext>
            </a:extLst>
          </p:cNvPr>
          <p:cNvSpPr/>
          <p:nvPr/>
        </p:nvSpPr>
        <p:spPr>
          <a:xfrm>
            <a:off x="6223000" y="1524000"/>
            <a:ext cx="5334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62BDAF6-D775-DD50-B44B-088ABBFCE9AB}"/>
              </a:ext>
            </a:extLst>
          </p:cNvPr>
          <p:cNvSpPr txBox="1"/>
          <p:nvPr/>
        </p:nvSpPr>
        <p:spPr>
          <a:xfrm>
            <a:off x="6477000" y="16510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>
                <a:solidFill>
                  <a:srgbClr val="2C0000"/>
                </a:solidFill>
              </a:rPr>
              <a:t>Securite et Tracabilite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DF39BBE-CE32-DB9A-B749-28F6470E5E4D}"/>
              </a:ext>
            </a:extLst>
          </p:cNvPr>
          <p:cNvSpPr txBox="1"/>
          <p:nvPr/>
        </p:nvSpPr>
        <p:spPr>
          <a:xfrm>
            <a:off x="6477000" y="20955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Chaque caissier ne voit que SES transactions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912792-5862-9E7C-EDB2-1DC62D7E985A}"/>
              </a:ext>
            </a:extLst>
          </p:cNvPr>
          <p:cNvSpPr txBox="1"/>
          <p:nvPr/>
        </p:nvSpPr>
        <p:spPr>
          <a:xfrm>
            <a:off x="6477000" y="24257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Cloture caissier : depart --&gt; dashboard a zero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56EA67D-1BF8-791F-4DD9-F5881676214C}"/>
              </a:ext>
            </a:extLst>
          </p:cNvPr>
          <p:cNvSpPr txBox="1"/>
          <p:nvPr/>
        </p:nvSpPr>
        <p:spPr>
          <a:xfrm>
            <a:off x="6477000" y="27559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Remises avec MOTIF OBLIGATOIRE pour tracabilite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42E2256-A6DE-2C96-234D-FF75F07C5D7D}"/>
              </a:ext>
            </a:extLst>
          </p:cNvPr>
          <p:cNvSpPr txBox="1"/>
          <p:nvPr/>
        </p:nvSpPr>
        <p:spPr>
          <a:xfrm>
            <a:off x="6477000" y="30861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Factures horodatees avec numero unique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1C99A5E-45EE-2359-746E-2C29F7439ECA}"/>
              </a:ext>
            </a:extLst>
          </p:cNvPr>
          <p:cNvSpPr txBox="1"/>
          <p:nvPr/>
        </p:nvSpPr>
        <p:spPr>
          <a:xfrm>
            <a:off x="6477000" y="34163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Token JWT dans l'URL pour l'impression des recus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91C1FF5-CE77-C049-83A6-ACC56A6B6192}"/>
              </a:ext>
            </a:extLst>
          </p:cNvPr>
          <p:cNvSpPr txBox="1"/>
          <p:nvPr/>
        </p:nvSpPr>
        <p:spPr>
          <a:xfrm>
            <a:off x="6477000" y="37465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Historique des clotures consultable (admin/manager)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338B55F-7886-C24F-0070-64E3B42FB763}"/>
              </a:ext>
            </a:extLst>
          </p:cNvPr>
          <p:cNvSpPr txBox="1"/>
          <p:nvPr/>
        </p:nvSpPr>
        <p:spPr>
          <a:xfrm>
            <a:off x="6477000" y="40767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Restaurant ferme : message rouge cote client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3DF9516-F8DE-A38E-4254-9CBAC376808C}"/>
              </a:ext>
            </a:extLst>
          </p:cNvPr>
          <p:cNvSpPr txBox="1"/>
          <p:nvPr/>
        </p:nvSpPr>
        <p:spPr>
          <a:xfrm>
            <a:off x="6477000" y="44069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Aucune commande possible pendant la fermeture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105FAF9-129E-EF64-FB2D-DC210C923CD2}"/>
              </a:ext>
            </a:extLst>
          </p:cNvPr>
          <p:cNvSpPr txBox="1"/>
          <p:nvPr/>
        </p:nvSpPr>
        <p:spPr>
          <a:xfrm>
            <a:off x="6477000" y="47371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Reouverture automatique : commandes de nouveau possibles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F02D3B2-8829-3223-0503-3C4ED00C832A}"/>
              </a:ext>
            </a:extLst>
          </p:cNvPr>
          <p:cNvSpPr txBox="1"/>
          <p:nvPr/>
        </p:nvSpPr>
        <p:spPr>
          <a:xfrm>
            <a:off x="6477000" y="50673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API protegee par guards de roles a chaque endpoint</a:t>
            </a:r>
          </a:p>
        </p:txBody>
      </p:sp>
    </p:spTree>
    <p:extLst>
      <p:ext uri="{BB962C8B-B14F-4D97-AF65-F5344CB8AC3E}">
        <p14:creationId xmlns:p14="http://schemas.microsoft.com/office/powerpoint/2010/main" val="188317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71E75-764D-BAEA-4F9E-4ABDDC2F8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C15C2D-5A5C-10E0-2569-A53C8A16FF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789F6-495D-B0C6-2C26-5B99828980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4A8F3-3921-750B-D8C9-3184DBB557AA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69BC19A-C88E-BE60-7070-17C74F6C55A2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Dashboards Cuisine et Bar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C1EBC-5F2F-7228-F290-316429BCDD65}"/>
              </a:ext>
            </a:extLst>
          </p:cNvPr>
          <p:cNvSpPr/>
          <p:nvPr/>
        </p:nvSpPr>
        <p:spPr>
          <a:xfrm>
            <a:off x="635000" y="1524000"/>
            <a:ext cx="5207000" cy="292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B696DB-42B5-DF76-265C-7D850705F891}"/>
              </a:ext>
            </a:extLst>
          </p:cNvPr>
          <p:cNvSpPr/>
          <p:nvPr/>
        </p:nvSpPr>
        <p:spPr>
          <a:xfrm>
            <a:off x="635000" y="1524000"/>
            <a:ext cx="5207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45E2EA-427E-9563-784F-DD9D3844FB8A}"/>
              </a:ext>
            </a:extLst>
          </p:cNvPr>
          <p:cNvSpPr txBox="1"/>
          <p:nvPr/>
        </p:nvSpPr>
        <p:spPr>
          <a:xfrm>
            <a:off x="889000" y="1651000"/>
            <a:ext cx="469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000" b="1">
                <a:solidFill>
                  <a:srgbClr val="E80000"/>
                </a:solidFill>
              </a:rPr>
              <a:t>Dashboard Cuisine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91EAD42-28E7-38BB-18D9-B641726DDA4C}"/>
              </a:ext>
            </a:extLst>
          </p:cNvPr>
          <p:cNvSpPr txBox="1"/>
          <p:nvPr/>
        </p:nvSpPr>
        <p:spPr>
          <a:xfrm>
            <a:off x="889000" y="21590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Stats en temps reel : A preparer / En cours / Pretes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4382D89-1DE7-3D10-458B-356431755EE3}"/>
              </a:ext>
            </a:extLst>
          </p:cNvPr>
          <p:cNvSpPr txBox="1"/>
          <p:nvPr/>
        </p:nvSpPr>
        <p:spPr>
          <a:xfrm>
            <a:off x="889000" y="24638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Tri FIFO : les commandes les plus anciennes en haut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A26ABF4-C153-9AB0-DDBD-08B661F11B8A}"/>
              </a:ext>
            </a:extLst>
          </p:cNvPr>
          <p:cNvSpPr txBox="1"/>
          <p:nvPr/>
        </p:nvSpPr>
        <p:spPr>
          <a:xfrm>
            <a:off x="889000" y="27686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Timer : minutes d'attente depuis la validation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CA49B9C-B492-16CC-0956-503978B8AA67}"/>
              </a:ext>
            </a:extLst>
          </p:cNvPr>
          <p:cNvSpPr txBox="1"/>
          <p:nvPr/>
        </p:nvSpPr>
        <p:spPr>
          <a:xfrm>
            <a:off x="889000" y="30734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ROUGE &gt;15min / JAUNE 5-15min / VERT &lt;5min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71A360E-D389-BFF7-49EE-FEA3603B0A59}"/>
              </a:ext>
            </a:extLst>
          </p:cNvPr>
          <p:cNvSpPr txBox="1"/>
          <p:nvPr/>
        </p:nvSpPr>
        <p:spPr>
          <a:xfrm>
            <a:off x="889000" y="33782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Actions : 'En preparation' par commande, 'Pret' par article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F65FED2-B33B-B175-D91E-9AE2A0B999FF}"/>
              </a:ext>
            </a:extLst>
          </p:cNvPr>
          <p:cNvSpPr txBox="1"/>
          <p:nvPr/>
        </p:nvSpPr>
        <p:spPr>
          <a:xfrm>
            <a:off x="889000" y="36830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Bouton 'Tout pret' pour une table entiere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01E8D1-1170-7C6B-9137-762DE26E82D5}"/>
              </a:ext>
            </a:extLst>
          </p:cNvPr>
          <p:cNvSpPr txBox="1"/>
          <p:nvPr/>
        </p:nvSpPr>
        <p:spPr>
          <a:xfrm>
            <a:off x="889000" y="39878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Montants affiches : total cuisine/dessert uniquement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9E9AC71-201F-8642-658F-1A775D9282ED}"/>
              </a:ext>
            </a:extLst>
          </p:cNvPr>
          <p:cNvSpPr txBox="1"/>
          <p:nvPr/>
        </p:nvSpPr>
        <p:spPr>
          <a:xfrm>
            <a:off x="889000" y="42926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Impression automatique du ticket cuisine (AUTO_PRINT)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0A94FD-50D5-E91C-671C-C7CF4705081F}"/>
              </a:ext>
            </a:extLst>
          </p:cNvPr>
          <p:cNvSpPr/>
          <p:nvPr/>
        </p:nvSpPr>
        <p:spPr>
          <a:xfrm>
            <a:off x="6223000" y="1524000"/>
            <a:ext cx="5334000" cy="292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66263E-54E2-D692-6BBB-51C651788818}"/>
              </a:ext>
            </a:extLst>
          </p:cNvPr>
          <p:cNvSpPr/>
          <p:nvPr/>
        </p:nvSpPr>
        <p:spPr>
          <a:xfrm>
            <a:off x="6223000" y="1524000"/>
            <a:ext cx="5334000" cy="508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D89D569-9E76-0F26-FC5E-2911B82A05B3}"/>
              </a:ext>
            </a:extLst>
          </p:cNvPr>
          <p:cNvSpPr txBox="1"/>
          <p:nvPr/>
        </p:nvSpPr>
        <p:spPr>
          <a:xfrm>
            <a:off x="6477000" y="1651000"/>
            <a:ext cx="469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000" b="1">
                <a:solidFill>
                  <a:srgbClr val="800000"/>
                </a:solidFill>
              </a:rPr>
              <a:t>Dashboard Bar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EC87B54-9E23-AEBE-71A0-515F42F2C267}"/>
              </a:ext>
            </a:extLst>
          </p:cNvPr>
          <p:cNvSpPr txBox="1"/>
          <p:nvPr/>
        </p:nvSpPr>
        <p:spPr>
          <a:xfrm>
            <a:off x="6477000" y="21590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Meme interface que la Cuisine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E8C35A6-71C9-D9E9-9696-09504E438E2A}"/>
              </a:ext>
            </a:extLst>
          </p:cNvPr>
          <p:cNvSpPr txBox="1"/>
          <p:nvPr/>
        </p:nvSpPr>
        <p:spPr>
          <a:xfrm>
            <a:off x="6477000" y="24638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Filtrage automatique : boissons uniquement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B2C2C87-1857-44EE-3C34-6C9996325C09}"/>
              </a:ext>
            </a:extLst>
          </p:cNvPr>
          <p:cNvSpPr txBox="1"/>
          <p:nvPr/>
        </p:nvSpPr>
        <p:spPr>
          <a:xfrm>
            <a:off x="6477000" y="27686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Montants affiches : total bar uniquement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ABA7F00-0274-3320-8BDE-1B2F7C8D0A77}"/>
              </a:ext>
            </a:extLst>
          </p:cNvPr>
          <p:cNvSpPr txBox="1"/>
          <p:nvPr/>
        </p:nvSpPr>
        <p:spPr>
          <a:xfrm>
            <a:off x="6477000" y="30734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Independant de la cuisine -- workflow parallele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73EA613-908C-7671-933A-84991AED1E73}"/>
              </a:ext>
            </a:extLst>
          </p:cNvPr>
          <p:cNvSpPr txBox="1"/>
          <p:nvPr/>
        </p:nvSpPr>
        <p:spPr>
          <a:xfrm>
            <a:off x="6477000" y="33782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Un article bar peut etre pret avant les plats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653F036-7E33-E4F7-0332-3B133CD2A852}"/>
              </a:ext>
            </a:extLst>
          </p:cNvPr>
          <p:cNvSpPr txBox="1"/>
          <p:nvPr/>
        </p:nvSpPr>
        <p:spPr>
          <a:xfrm>
            <a:off x="6477000" y="36830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La commande passe PRETE quand TOUT est pret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113CBC5-6DA2-44F7-E4D9-2C7AFA5F4DE6}"/>
              </a:ext>
            </a:extLst>
          </p:cNvPr>
          <p:cNvSpPr txBox="1"/>
          <p:nvPr/>
        </p:nvSpPr>
        <p:spPr>
          <a:xfrm>
            <a:off x="6477000" y="39878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Impression automatique du ticket bar (AUTO_PRINT)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AD5C76A-43BF-E83B-D926-19630B17477C}"/>
              </a:ext>
            </a:extLst>
          </p:cNvPr>
          <p:cNvSpPr txBox="1"/>
          <p:nvPr/>
        </p:nvSpPr>
        <p:spPr>
          <a:xfrm>
            <a:off x="6477000" y="4292600"/>
            <a:ext cx="482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- Notifications en temps reel a la validation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9A59B81-FA50-81D0-2AEE-D66B21FE95F7}"/>
              </a:ext>
            </a:extLst>
          </p:cNvPr>
          <p:cNvSpPr txBox="1"/>
          <p:nvPr/>
        </p:nvSpPr>
        <p:spPr>
          <a:xfrm>
            <a:off x="635000" y="4699000"/>
            <a:ext cx="1092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1B0000"/>
                </a:solidFill>
              </a:rPr>
              <a:t>Les dashboards sont independants : la cuisine et le bar travaillent en parallele sur la meme commande.</a:t>
            </a:r>
          </a:p>
        </p:txBody>
      </p:sp>
    </p:spTree>
    <p:extLst>
      <p:ext uri="{BB962C8B-B14F-4D97-AF65-F5344CB8AC3E}">
        <p14:creationId xmlns:p14="http://schemas.microsoft.com/office/powerpoint/2010/main" val="781112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A3DA38-703B-FEE8-5E79-5D0497398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7DC712C-B267-951A-15D4-FC483A5B58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217DD-8450-20CF-5FFB-0FF02FA286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9E507-CCF4-C171-876F-5554329691B8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40CC66-0187-0DA3-CC86-2796BFC64E99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Cycle de Vie d'une Commande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545D4B-ABB5-A365-AE60-355E6FB69D57}"/>
              </a:ext>
            </a:extLst>
          </p:cNvPr>
          <p:cNvSpPr txBox="1"/>
          <p:nvPr/>
        </p:nvSpPr>
        <p:spPr>
          <a:xfrm>
            <a:off x="635000" y="1524000"/>
            <a:ext cx="508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000" b="1">
                <a:solidFill>
                  <a:srgbClr val="2C0000"/>
                </a:solidFill>
              </a:rPr>
              <a:t>Mode SERVEUR (classique)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C3E333-3A4B-9B94-B64C-E4F91F8F1A3C}"/>
              </a:ext>
            </a:extLst>
          </p:cNvPr>
          <p:cNvSpPr/>
          <p:nvPr/>
        </p:nvSpPr>
        <p:spPr>
          <a:xfrm>
            <a:off x="635000" y="2095500"/>
            <a:ext cx="1841500" cy="825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986719-A23B-342C-0573-BF459F6DDA40}"/>
              </a:ext>
            </a:extLst>
          </p:cNvPr>
          <p:cNvSpPr/>
          <p:nvPr/>
        </p:nvSpPr>
        <p:spPr>
          <a:xfrm>
            <a:off x="635000" y="2095500"/>
            <a:ext cx="1841500" cy="50800"/>
          </a:xfrm>
          <a:prstGeom prst="rect">
            <a:avLst/>
          </a:prstGeom>
          <a:solidFill>
            <a:srgbClr val="D6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B9FC92F-E7AB-41B6-4E77-6789505FDDF1}"/>
              </a:ext>
            </a:extLst>
          </p:cNvPr>
          <p:cNvSpPr txBox="1"/>
          <p:nvPr/>
        </p:nvSpPr>
        <p:spPr>
          <a:xfrm>
            <a:off x="698500" y="2133600"/>
            <a:ext cx="1714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100" b="1">
                <a:solidFill>
                  <a:srgbClr val="D60000"/>
                </a:solidFill>
              </a:rPr>
              <a:t>EN_ATTENTE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EB83A3D-7A00-B514-0EAA-18B068857C67}"/>
              </a:ext>
            </a:extLst>
          </p:cNvPr>
          <p:cNvSpPr txBox="1"/>
          <p:nvPr/>
        </p:nvSpPr>
        <p:spPr>
          <a:xfrm>
            <a:off x="698500" y="2438400"/>
            <a:ext cx="1714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000">
                <a:solidFill>
                  <a:srgbClr val="2D0000"/>
                </a:solidFill>
              </a:rPr>
              <a:t>Valider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517D117-D1D0-2174-32CE-CD5D8A7F4999}"/>
              </a:ext>
            </a:extLst>
          </p:cNvPr>
          <p:cNvSpPr txBox="1"/>
          <p:nvPr/>
        </p:nvSpPr>
        <p:spPr>
          <a:xfrm>
            <a:off x="698500" y="2692400"/>
            <a:ext cx="17145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900">
                <a:solidFill>
                  <a:srgbClr val="710000"/>
                </a:solidFill>
              </a:rPr>
              <a:t>SERVEUR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912F444-9E9A-91AE-C8FF-38B58C68DF05}"/>
              </a:ext>
            </a:extLst>
          </p:cNvPr>
          <p:cNvSpPr txBox="1"/>
          <p:nvPr/>
        </p:nvSpPr>
        <p:spPr>
          <a:xfrm>
            <a:off x="2387600" y="2349500"/>
            <a:ext cx="254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5A6034-0201-02F6-B491-BD6DA90D740C}"/>
              </a:ext>
            </a:extLst>
          </p:cNvPr>
          <p:cNvSpPr/>
          <p:nvPr/>
        </p:nvSpPr>
        <p:spPr>
          <a:xfrm>
            <a:off x="2603500" y="2095500"/>
            <a:ext cx="1841500" cy="825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99A140-D0D1-EDD1-0003-CC664F908065}"/>
              </a:ext>
            </a:extLst>
          </p:cNvPr>
          <p:cNvSpPr/>
          <p:nvPr/>
        </p:nvSpPr>
        <p:spPr>
          <a:xfrm>
            <a:off x="2603500" y="2095500"/>
            <a:ext cx="18415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2C4F5F9-CBB4-CDA2-3C24-72EAD6255D6C}"/>
              </a:ext>
            </a:extLst>
          </p:cNvPr>
          <p:cNvSpPr txBox="1"/>
          <p:nvPr/>
        </p:nvSpPr>
        <p:spPr>
          <a:xfrm>
            <a:off x="2667000" y="2133600"/>
            <a:ext cx="1714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100" b="1">
                <a:solidFill>
                  <a:srgbClr val="E80000"/>
                </a:solidFill>
              </a:rPr>
              <a:t>VALIDEE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0D951C5-02E9-37FA-7572-2544067D636C}"/>
              </a:ext>
            </a:extLst>
          </p:cNvPr>
          <p:cNvSpPr txBox="1"/>
          <p:nvPr/>
        </p:nvSpPr>
        <p:spPr>
          <a:xfrm>
            <a:off x="2667000" y="2438400"/>
            <a:ext cx="1714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000">
                <a:solidFill>
                  <a:srgbClr val="2D0000"/>
                </a:solidFill>
              </a:rPr>
              <a:t>En prepa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CB6E960-5BD0-E3A9-58B3-93C379D8B026}"/>
              </a:ext>
            </a:extLst>
          </p:cNvPr>
          <p:cNvSpPr txBox="1"/>
          <p:nvPr/>
        </p:nvSpPr>
        <p:spPr>
          <a:xfrm>
            <a:off x="2667000" y="2692400"/>
            <a:ext cx="17145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900">
                <a:solidFill>
                  <a:srgbClr val="710000"/>
                </a:solidFill>
              </a:rPr>
              <a:t>CUISINE/BAR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C21D827-0ECD-BFBF-CA9F-090372E0CF7B}"/>
              </a:ext>
            </a:extLst>
          </p:cNvPr>
          <p:cNvSpPr txBox="1"/>
          <p:nvPr/>
        </p:nvSpPr>
        <p:spPr>
          <a:xfrm>
            <a:off x="4356100" y="2349500"/>
            <a:ext cx="254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4DB4C2-2AE0-CE79-AB62-8CC5B09FF627}"/>
              </a:ext>
            </a:extLst>
          </p:cNvPr>
          <p:cNvSpPr/>
          <p:nvPr/>
        </p:nvSpPr>
        <p:spPr>
          <a:xfrm>
            <a:off x="4572000" y="2095500"/>
            <a:ext cx="1841500" cy="825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AF872C-E219-FC5B-1767-2D4B35F75061}"/>
              </a:ext>
            </a:extLst>
          </p:cNvPr>
          <p:cNvSpPr/>
          <p:nvPr/>
        </p:nvSpPr>
        <p:spPr>
          <a:xfrm>
            <a:off x="4572000" y="2095500"/>
            <a:ext cx="18415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592DD62-B059-C23E-F7E5-852AEDF163AE}"/>
              </a:ext>
            </a:extLst>
          </p:cNvPr>
          <p:cNvSpPr txBox="1"/>
          <p:nvPr/>
        </p:nvSpPr>
        <p:spPr>
          <a:xfrm>
            <a:off x="4635500" y="2133600"/>
            <a:ext cx="1714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100" b="1">
                <a:solidFill>
                  <a:srgbClr val="2C0000"/>
                </a:solidFill>
              </a:rPr>
              <a:t>EN_PREPARATION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EB02464-8E02-119A-2144-2F136CD08840}"/>
              </a:ext>
            </a:extLst>
          </p:cNvPr>
          <p:cNvSpPr txBox="1"/>
          <p:nvPr/>
        </p:nvSpPr>
        <p:spPr>
          <a:xfrm>
            <a:off x="4635500" y="2438400"/>
            <a:ext cx="1714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000">
                <a:solidFill>
                  <a:srgbClr val="2D0000"/>
                </a:solidFill>
              </a:rPr>
              <a:t>Pret article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77CB5BF-7771-E971-4E35-C1A57E9CC018}"/>
              </a:ext>
            </a:extLst>
          </p:cNvPr>
          <p:cNvSpPr txBox="1"/>
          <p:nvPr/>
        </p:nvSpPr>
        <p:spPr>
          <a:xfrm>
            <a:off x="4635500" y="2692400"/>
            <a:ext cx="17145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900">
                <a:solidFill>
                  <a:srgbClr val="710000"/>
                </a:solidFill>
              </a:rPr>
              <a:t>CUISINE/BAR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70984F3-2C21-A2E9-412B-243FA784AD31}"/>
              </a:ext>
            </a:extLst>
          </p:cNvPr>
          <p:cNvSpPr txBox="1"/>
          <p:nvPr/>
        </p:nvSpPr>
        <p:spPr>
          <a:xfrm>
            <a:off x="6324600" y="2349500"/>
            <a:ext cx="254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D5CADA-A563-CB38-5EDD-D6D81E78E6BA}"/>
              </a:ext>
            </a:extLst>
          </p:cNvPr>
          <p:cNvSpPr/>
          <p:nvPr/>
        </p:nvSpPr>
        <p:spPr>
          <a:xfrm>
            <a:off x="6540500" y="2095500"/>
            <a:ext cx="1841500" cy="825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441302-4F87-A0D9-32A5-84B293C52667}"/>
              </a:ext>
            </a:extLst>
          </p:cNvPr>
          <p:cNvSpPr/>
          <p:nvPr/>
        </p:nvSpPr>
        <p:spPr>
          <a:xfrm>
            <a:off x="6540500" y="2095500"/>
            <a:ext cx="1841500" cy="50800"/>
          </a:xfrm>
          <a:prstGeom prst="rect">
            <a:avLst/>
          </a:prstGeom>
          <a:solidFill>
            <a:srgbClr val="3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255E65C-1F8B-BF63-88F2-C1BB1AABB7A9}"/>
              </a:ext>
            </a:extLst>
          </p:cNvPr>
          <p:cNvSpPr txBox="1"/>
          <p:nvPr/>
        </p:nvSpPr>
        <p:spPr>
          <a:xfrm>
            <a:off x="6604000" y="2133600"/>
            <a:ext cx="1714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100" b="1">
                <a:solidFill>
                  <a:srgbClr val="380000"/>
                </a:solidFill>
              </a:rPr>
              <a:t>PRETE (auto)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F5873CB-31A2-1BC5-98BF-2BD3E958D966}"/>
              </a:ext>
            </a:extLst>
          </p:cNvPr>
          <p:cNvSpPr txBox="1"/>
          <p:nvPr/>
        </p:nvSpPr>
        <p:spPr>
          <a:xfrm>
            <a:off x="6604000" y="2438400"/>
            <a:ext cx="1714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000">
                <a:solidFill>
                  <a:srgbClr val="2D0000"/>
                </a:solidFill>
              </a:rPr>
              <a:t>Servir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7204748-831B-A966-0926-39435ED643DC}"/>
              </a:ext>
            </a:extLst>
          </p:cNvPr>
          <p:cNvSpPr txBox="1"/>
          <p:nvPr/>
        </p:nvSpPr>
        <p:spPr>
          <a:xfrm>
            <a:off x="6604000" y="2692400"/>
            <a:ext cx="17145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900">
                <a:solidFill>
                  <a:srgbClr val="710000"/>
                </a:solidFill>
              </a:rPr>
              <a:t>SERVEUR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C97BF81-2377-63D0-D2CF-F4F54B03D37F}"/>
              </a:ext>
            </a:extLst>
          </p:cNvPr>
          <p:cNvSpPr txBox="1"/>
          <p:nvPr/>
        </p:nvSpPr>
        <p:spPr>
          <a:xfrm>
            <a:off x="8293100" y="2349500"/>
            <a:ext cx="254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37BB2D-775E-338A-7A07-B9BB4E9F8219}"/>
              </a:ext>
            </a:extLst>
          </p:cNvPr>
          <p:cNvSpPr/>
          <p:nvPr/>
        </p:nvSpPr>
        <p:spPr>
          <a:xfrm>
            <a:off x="8509000" y="2095500"/>
            <a:ext cx="1841500" cy="825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971915-1C14-2428-8571-7B0E834DB6F0}"/>
              </a:ext>
            </a:extLst>
          </p:cNvPr>
          <p:cNvSpPr/>
          <p:nvPr/>
        </p:nvSpPr>
        <p:spPr>
          <a:xfrm>
            <a:off x="8509000" y="2095500"/>
            <a:ext cx="1841500" cy="508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087BFDB-D784-3CA1-7CB3-343C3B8DE16C}"/>
              </a:ext>
            </a:extLst>
          </p:cNvPr>
          <p:cNvSpPr txBox="1"/>
          <p:nvPr/>
        </p:nvSpPr>
        <p:spPr>
          <a:xfrm>
            <a:off x="8572500" y="2133600"/>
            <a:ext cx="1714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100" b="1">
                <a:solidFill>
                  <a:srgbClr val="800000"/>
                </a:solidFill>
              </a:rPr>
              <a:t>SERVIE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F35077B-4D09-F779-9CA9-CAD3DE9DA39C}"/>
              </a:ext>
            </a:extLst>
          </p:cNvPr>
          <p:cNvSpPr txBox="1"/>
          <p:nvPr/>
        </p:nvSpPr>
        <p:spPr>
          <a:xfrm>
            <a:off x="8572500" y="2438400"/>
            <a:ext cx="1714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000">
                <a:solidFill>
                  <a:srgbClr val="2D0000"/>
                </a:solidFill>
              </a:rPr>
              <a:t>Payer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1B0FC17-3620-9C36-2E8E-B89DA47A406E}"/>
              </a:ext>
            </a:extLst>
          </p:cNvPr>
          <p:cNvSpPr txBox="1"/>
          <p:nvPr/>
        </p:nvSpPr>
        <p:spPr>
          <a:xfrm>
            <a:off x="8572500" y="2692400"/>
            <a:ext cx="17145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900">
                <a:solidFill>
                  <a:srgbClr val="710000"/>
                </a:solidFill>
              </a:rPr>
              <a:t>CAISSIER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CEF3A2C-5DC9-67AA-80D2-1C181D3847E5}"/>
              </a:ext>
            </a:extLst>
          </p:cNvPr>
          <p:cNvSpPr txBox="1"/>
          <p:nvPr/>
        </p:nvSpPr>
        <p:spPr>
          <a:xfrm>
            <a:off x="10261600" y="2349500"/>
            <a:ext cx="254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59A235-097E-BE60-8A8F-755F1DE8575D}"/>
              </a:ext>
            </a:extLst>
          </p:cNvPr>
          <p:cNvSpPr/>
          <p:nvPr/>
        </p:nvSpPr>
        <p:spPr>
          <a:xfrm>
            <a:off x="10477500" y="2095500"/>
            <a:ext cx="1841500" cy="825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AA9E40-8E52-39E8-5AB7-9C8C9471AA65}"/>
              </a:ext>
            </a:extLst>
          </p:cNvPr>
          <p:cNvSpPr/>
          <p:nvPr/>
        </p:nvSpPr>
        <p:spPr>
          <a:xfrm>
            <a:off x="10477500" y="2095500"/>
            <a:ext cx="1841500" cy="50800"/>
          </a:xfrm>
          <a:prstGeom prst="rect">
            <a:avLst/>
          </a:prstGeom>
          <a:solidFill>
            <a:srgbClr val="71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AB79034-AD52-E2BD-10F6-BA3942C4DCF2}"/>
              </a:ext>
            </a:extLst>
          </p:cNvPr>
          <p:cNvSpPr txBox="1"/>
          <p:nvPr/>
        </p:nvSpPr>
        <p:spPr>
          <a:xfrm>
            <a:off x="10541000" y="2133600"/>
            <a:ext cx="1714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100" b="1">
                <a:solidFill>
                  <a:srgbClr val="710000"/>
                </a:solidFill>
              </a:rPr>
              <a:t>PAYEE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CD5C65B-905D-8319-C59C-AA362ED35914}"/>
              </a:ext>
            </a:extLst>
          </p:cNvPr>
          <p:cNvSpPr txBox="1"/>
          <p:nvPr/>
        </p:nvSpPr>
        <p:spPr>
          <a:xfrm>
            <a:off x="10541000" y="2438400"/>
            <a:ext cx="17145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000">
                <a:solidFill>
                  <a:srgbClr val="2D0000"/>
                </a:solidFill>
              </a:rPr>
              <a:t>--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2C959EA-F521-CD8B-E93B-0B959AD7D03C}"/>
              </a:ext>
            </a:extLst>
          </p:cNvPr>
          <p:cNvSpPr txBox="1"/>
          <p:nvPr/>
        </p:nvSpPr>
        <p:spPr>
          <a:xfrm>
            <a:off x="10541000" y="2692400"/>
            <a:ext cx="17145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900">
                <a:solidFill>
                  <a:srgbClr val="710000"/>
                </a:solidFill>
              </a:rPr>
              <a:t>--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67E80E6-7610-7720-D08D-075004917934}"/>
              </a:ext>
            </a:extLst>
          </p:cNvPr>
          <p:cNvSpPr txBox="1"/>
          <p:nvPr/>
        </p:nvSpPr>
        <p:spPr>
          <a:xfrm>
            <a:off x="635000" y="3302000"/>
            <a:ext cx="508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000" b="1">
                <a:solidFill>
                  <a:srgbClr val="E80000"/>
                </a:solidFill>
              </a:rPr>
              <a:t>Mode RECEPTION (sans serveur dedie)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3C1B3870-1695-3344-F8B7-15FBE2DE133B}"/>
              </a:ext>
            </a:extLst>
          </p:cNvPr>
          <p:cNvSpPr txBox="1"/>
          <p:nvPr/>
        </p:nvSpPr>
        <p:spPr>
          <a:xfrm>
            <a:off x="635000" y="3810000"/>
            <a:ext cx="1092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EN_ATTENTE --&gt; RECEPTION_VALIDE --&gt; EN_PREPARATION --&gt; PRETE --&gt; SERVIE --&gt; PAYEE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C3F547A-A8C7-5B9E-1A05-69D35CCDCC5B}"/>
              </a:ext>
            </a:extLst>
          </p:cNvPr>
          <p:cNvSpPr txBox="1"/>
          <p:nvPr/>
        </p:nvSpPr>
        <p:spPr>
          <a:xfrm>
            <a:off x="635000" y="41275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710000"/>
                </a:solidFill>
              </a:rPr>
              <a:t>Le Receptionniste remplace le Serveur pour la validation et le service.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5BD2673-0BC0-0D73-8BD7-573895F5A550}"/>
              </a:ext>
            </a:extLst>
          </p:cNvPr>
          <p:cNvSpPr txBox="1"/>
          <p:nvPr/>
        </p:nvSpPr>
        <p:spPr>
          <a:xfrm>
            <a:off x="635000" y="4699000"/>
            <a:ext cx="381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 b="1">
                <a:solidFill>
                  <a:srgbClr val="1B0000"/>
                </a:solidFill>
              </a:rPr>
              <a:t>Regles metier importantes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D6C2A05F-AC82-D6FE-1DCC-7DB112B381E9}"/>
              </a:ext>
            </a:extLst>
          </p:cNvPr>
          <p:cNvSpPr txBox="1"/>
          <p:nvPr/>
        </p:nvSpPr>
        <p:spPr>
          <a:xfrm>
            <a:off x="635000" y="5016500"/>
            <a:ext cx="1092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PRETE : transition automatique quand TOUS les articles (cuisine + bar) sont prets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EB3DC927-6A1E-5CCF-9945-9A338632BC1C}"/>
              </a:ext>
            </a:extLst>
          </p:cNvPr>
          <p:cNvSpPr txBox="1"/>
          <p:nvPr/>
        </p:nvSpPr>
        <p:spPr>
          <a:xfrm>
            <a:off x="635000" y="5308600"/>
            <a:ext cx="1092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Table --&gt; OCCUPEE a la validation, --&gt; LIBRE automatiquement apres paiement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C5115E71-9EE1-4DD3-4681-E7352626EBAB}"/>
              </a:ext>
            </a:extLst>
          </p:cNvPr>
          <p:cNvSpPr txBox="1"/>
          <p:nvPr/>
        </p:nvSpPr>
        <p:spPr>
          <a:xfrm>
            <a:off x="635000" y="5600700"/>
            <a:ext cx="1092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Annulation possible uniquement au statut EN_ATTENTE (client ou staff)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52C684F4-590B-7994-510C-D41DBDBB6BF1}"/>
              </a:ext>
            </a:extLst>
          </p:cNvPr>
          <p:cNvSpPr txBox="1"/>
          <p:nvPr/>
        </p:nvSpPr>
        <p:spPr>
          <a:xfrm>
            <a:off x="635000" y="5892800"/>
            <a:ext cx="1092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Double suivi : statut global commande + statut individuel par article</a:t>
            </a:r>
          </a:p>
        </p:txBody>
      </p:sp>
    </p:spTree>
    <p:extLst>
      <p:ext uri="{BB962C8B-B14F-4D97-AF65-F5344CB8AC3E}">
        <p14:creationId xmlns:p14="http://schemas.microsoft.com/office/powerpoint/2010/main" val="811855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7FE0C-2C18-59DD-791F-F99A83996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FDFDEF-4121-5B44-C8EC-6A28AA57D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E9010-AE0D-21DF-B8EF-70A8D802E9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BB8599-A42C-EBD9-2A8C-259B6C7AC3FA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B113133-8B02-F557-23FE-428ED789FBD7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Parcours Client -- QR Code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D2DB23C-8297-E463-8749-2FA0052EAA8C}"/>
              </a:ext>
            </a:extLst>
          </p:cNvPr>
          <p:cNvSpPr/>
          <p:nvPr/>
        </p:nvSpPr>
        <p:spPr>
          <a:xfrm>
            <a:off x="1333500" y="1905000"/>
            <a:ext cx="889000" cy="8890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37A356-C38B-6F52-E106-77023695F9D5}"/>
              </a:ext>
            </a:extLst>
          </p:cNvPr>
          <p:cNvSpPr txBox="1"/>
          <p:nvPr/>
        </p:nvSpPr>
        <p:spPr>
          <a:xfrm>
            <a:off x="2286000" y="2095500"/>
            <a:ext cx="50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4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17EC9CA-1A33-C2B3-59F9-74F0D6D5F852}"/>
              </a:ext>
            </a:extLst>
          </p:cNvPr>
          <p:cNvSpPr txBox="1"/>
          <p:nvPr/>
        </p:nvSpPr>
        <p:spPr>
          <a:xfrm>
            <a:off x="635000" y="3048000"/>
            <a:ext cx="190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000000"/>
                </a:solidFill>
              </a:rPr>
              <a:t>Scan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DAA8AA-8B94-26BA-B745-CF573AE3811A}"/>
              </a:ext>
            </a:extLst>
          </p:cNvPr>
          <p:cNvSpPr txBox="1"/>
          <p:nvPr/>
        </p:nvSpPr>
        <p:spPr>
          <a:xfrm>
            <a:off x="635000" y="3429000"/>
            <a:ext cx="190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2D0000"/>
                </a:solidFill>
              </a:rPr>
              <a:t>Le client scanne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le QR code sur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sa table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38D2FA4-AABE-405B-9154-ABD68F87D70B}"/>
              </a:ext>
            </a:extLst>
          </p:cNvPr>
          <p:cNvSpPr/>
          <p:nvPr/>
        </p:nvSpPr>
        <p:spPr>
          <a:xfrm>
            <a:off x="3619500" y="1905000"/>
            <a:ext cx="889000" cy="8890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1B2ABD0-B686-7319-823C-0A816C4EFFF1}"/>
              </a:ext>
            </a:extLst>
          </p:cNvPr>
          <p:cNvSpPr txBox="1"/>
          <p:nvPr/>
        </p:nvSpPr>
        <p:spPr>
          <a:xfrm>
            <a:off x="4572000" y="2095500"/>
            <a:ext cx="50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4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A25639E-8365-F6B5-92C8-E27FB344738D}"/>
              </a:ext>
            </a:extLst>
          </p:cNvPr>
          <p:cNvSpPr txBox="1"/>
          <p:nvPr/>
        </p:nvSpPr>
        <p:spPr>
          <a:xfrm>
            <a:off x="2921000" y="3048000"/>
            <a:ext cx="190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000000"/>
                </a:solidFill>
              </a:rPr>
              <a:t>Menu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0B9D260-B80E-8542-318A-4C495796A90C}"/>
              </a:ext>
            </a:extLst>
          </p:cNvPr>
          <p:cNvSpPr txBox="1"/>
          <p:nvPr/>
        </p:nvSpPr>
        <p:spPr>
          <a:xfrm>
            <a:off x="2921000" y="3429000"/>
            <a:ext cx="190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2D0000"/>
                </a:solidFill>
              </a:rPr>
              <a:t>Le menu s'affiche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avec prix et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variantes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3CD2604-FE69-11CA-29BF-A486D707D6FB}"/>
              </a:ext>
            </a:extLst>
          </p:cNvPr>
          <p:cNvSpPr/>
          <p:nvPr/>
        </p:nvSpPr>
        <p:spPr>
          <a:xfrm>
            <a:off x="5905500" y="1905000"/>
            <a:ext cx="889000" cy="8890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DD844BD-ED2F-14E4-31EC-ED4ED9BB5AC3}"/>
              </a:ext>
            </a:extLst>
          </p:cNvPr>
          <p:cNvSpPr txBox="1"/>
          <p:nvPr/>
        </p:nvSpPr>
        <p:spPr>
          <a:xfrm>
            <a:off x="6858000" y="2095500"/>
            <a:ext cx="50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4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994D39C-1054-14A6-44B6-FBA400EE9350}"/>
              </a:ext>
            </a:extLst>
          </p:cNvPr>
          <p:cNvSpPr txBox="1"/>
          <p:nvPr/>
        </p:nvSpPr>
        <p:spPr>
          <a:xfrm>
            <a:off x="5207000" y="3048000"/>
            <a:ext cx="190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000000"/>
                </a:solidFill>
              </a:rPr>
              <a:t>Commande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5461127-B2F7-6742-83AF-D1E1595143A1}"/>
              </a:ext>
            </a:extLst>
          </p:cNvPr>
          <p:cNvSpPr txBox="1"/>
          <p:nvPr/>
        </p:nvSpPr>
        <p:spPr>
          <a:xfrm>
            <a:off x="5207000" y="3429000"/>
            <a:ext cx="190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2D0000"/>
                </a:solidFill>
              </a:rPr>
              <a:t>Ajout au panier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puis validation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et confirmation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C1BA914-9A03-F5C5-AC98-4443916425FF}"/>
              </a:ext>
            </a:extLst>
          </p:cNvPr>
          <p:cNvSpPr/>
          <p:nvPr/>
        </p:nvSpPr>
        <p:spPr>
          <a:xfrm>
            <a:off x="8191500" y="1905000"/>
            <a:ext cx="889000" cy="8890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FBC689B-18EB-0279-E8B8-2C6A07CF7798}"/>
              </a:ext>
            </a:extLst>
          </p:cNvPr>
          <p:cNvSpPr txBox="1"/>
          <p:nvPr/>
        </p:nvSpPr>
        <p:spPr>
          <a:xfrm>
            <a:off x="9144000" y="2095500"/>
            <a:ext cx="50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2400" b="1">
                <a:solidFill>
                  <a:srgbClr val="710000"/>
                </a:solidFill>
              </a:rPr>
              <a:t>--&gt;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7135DA1-A17F-9A23-9A27-13581C65B517}"/>
              </a:ext>
            </a:extLst>
          </p:cNvPr>
          <p:cNvSpPr txBox="1"/>
          <p:nvPr/>
        </p:nvSpPr>
        <p:spPr>
          <a:xfrm>
            <a:off x="7493000" y="3048000"/>
            <a:ext cx="190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000000"/>
                </a:solidFill>
              </a:rPr>
              <a:t>Suivi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47AA991-575D-169E-AA5E-89DE5BD96245}"/>
              </a:ext>
            </a:extLst>
          </p:cNvPr>
          <p:cNvSpPr txBox="1"/>
          <p:nvPr/>
        </p:nvSpPr>
        <p:spPr>
          <a:xfrm>
            <a:off x="7493000" y="3429000"/>
            <a:ext cx="190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2D0000"/>
                </a:solidFill>
              </a:rPr>
              <a:t>Statut en temps reel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via Socket.IO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sur son telephone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031FC0AD-226E-1CA1-6C8B-C01521F13FE4}"/>
              </a:ext>
            </a:extLst>
          </p:cNvPr>
          <p:cNvSpPr/>
          <p:nvPr/>
        </p:nvSpPr>
        <p:spPr>
          <a:xfrm>
            <a:off x="10477500" y="1905000"/>
            <a:ext cx="889000" cy="889000"/>
          </a:xfrm>
          <a:prstGeom prst="ellipse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C6933CA-6DEE-B881-0124-2050D1D4C106}"/>
              </a:ext>
            </a:extLst>
          </p:cNvPr>
          <p:cNvSpPr txBox="1"/>
          <p:nvPr/>
        </p:nvSpPr>
        <p:spPr>
          <a:xfrm>
            <a:off x="9779000" y="3048000"/>
            <a:ext cx="190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600" b="1">
                <a:solidFill>
                  <a:srgbClr val="000000"/>
                </a:solidFill>
              </a:rPr>
              <a:t>Addition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265D62-274A-22C3-CB61-AED89326D505}"/>
              </a:ext>
            </a:extLst>
          </p:cNvPr>
          <p:cNvSpPr txBox="1"/>
          <p:nvPr/>
        </p:nvSpPr>
        <p:spPr>
          <a:xfrm>
            <a:off x="9779000" y="3429000"/>
            <a:ext cx="190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fr-FR" sz="1200">
                <a:solidFill>
                  <a:srgbClr val="2D0000"/>
                </a:solidFill>
              </a:rPr>
              <a:t>Demande d'addition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quand la commande</a:t>
            </a:r>
          </a:p>
          <a:p>
            <a:pPr algn="ctr"/>
            <a:r>
              <a:rPr lang="fr-FR" sz="1200">
                <a:solidFill>
                  <a:srgbClr val="2D0000"/>
                </a:solidFill>
              </a:rPr>
              <a:t>est servie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0F5865-8A4E-5ECD-CA26-E6A1F0B7B936}"/>
              </a:ext>
            </a:extLst>
          </p:cNvPr>
          <p:cNvSpPr/>
          <p:nvPr/>
        </p:nvSpPr>
        <p:spPr>
          <a:xfrm>
            <a:off x="635000" y="4318000"/>
            <a:ext cx="10922000" cy="1651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9E5DF43-7DFC-D7D1-82D7-3963A2B21DFB}"/>
              </a:ext>
            </a:extLst>
          </p:cNvPr>
          <p:cNvSpPr txBox="1"/>
          <p:nvPr/>
        </p:nvSpPr>
        <p:spPr>
          <a:xfrm>
            <a:off x="889000" y="4445000"/>
            <a:ext cx="254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 b="1">
                <a:solidFill>
                  <a:srgbClr val="1B0000"/>
                </a:solidFill>
              </a:rPr>
              <a:t>Points cles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6CB74EE-59E4-7864-B70C-DB080DB02A13}"/>
              </a:ext>
            </a:extLst>
          </p:cNvPr>
          <p:cNvSpPr txBox="1"/>
          <p:nvPr/>
        </p:nvSpPr>
        <p:spPr>
          <a:xfrm>
            <a:off x="889000" y="48260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Restauration automatique de session (localStorage, 6h)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90CE738-A5EC-E0F4-C272-71BB58A1F2C9}"/>
              </a:ext>
            </a:extLst>
          </p:cNvPr>
          <p:cNvSpPr txBox="1"/>
          <p:nvPr/>
        </p:nvSpPr>
        <p:spPr>
          <a:xfrm>
            <a:off x="889000" y="51181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Device ID : suivi cross-appareil sans authentification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007DC76-7921-B390-2354-548787AD786F}"/>
              </a:ext>
            </a:extLst>
          </p:cNvPr>
          <p:cNvSpPr txBox="1"/>
          <p:nvPr/>
        </p:nvSpPr>
        <p:spPr>
          <a:xfrm>
            <a:off x="889000" y="54102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Commandes a emporter (Comptoir/T00) : auto-validees, numero CMD-XXXX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6A9D2EE-A31C-DDFA-D169-24064FBCD2F7}"/>
              </a:ext>
            </a:extLst>
          </p:cNvPr>
          <p:cNvSpPr txBox="1"/>
          <p:nvPr/>
        </p:nvSpPr>
        <p:spPr>
          <a:xfrm>
            <a:off x="889000" y="57023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2D0000"/>
                </a:solidFill>
              </a:rPr>
              <a:t>- Restaurant ferme (cloture globale) : message rouge, menu masque, reouverture auto</a:t>
            </a:r>
          </a:p>
        </p:txBody>
      </p:sp>
    </p:spTree>
    <p:extLst>
      <p:ext uri="{BB962C8B-B14F-4D97-AF65-F5344CB8AC3E}">
        <p14:creationId xmlns:p14="http://schemas.microsoft.com/office/powerpoint/2010/main" val="96930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2BE25-1029-B226-B8A5-81A4CB900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2D17F1-1379-AB06-003D-2DAF17922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25969B-72B7-E378-867A-F3FEFD5F3E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DE55DE-02D7-5E78-7CB9-CA8FAEDD537E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4A9D0FE-6F0D-A790-9BBE-56D0995DA72D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Roles et Permissions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06644-CEB1-42A6-5C35-D2996B470FEC}"/>
              </a:ext>
            </a:extLst>
          </p:cNvPr>
          <p:cNvSpPr/>
          <p:nvPr/>
        </p:nvSpPr>
        <p:spPr>
          <a:xfrm>
            <a:off x="635000" y="1524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62359-4DA3-9262-0CFC-E091AF58D701}"/>
              </a:ext>
            </a:extLst>
          </p:cNvPr>
          <p:cNvSpPr/>
          <p:nvPr/>
        </p:nvSpPr>
        <p:spPr>
          <a:xfrm>
            <a:off x="635000" y="1524000"/>
            <a:ext cx="76200" cy="50800"/>
          </a:xfrm>
          <a:prstGeom prst="rect">
            <a:avLst/>
          </a:prstGeom>
          <a:solidFill>
            <a:srgbClr val="E5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6C07FE-6565-3858-57F2-960A04E1E125}"/>
              </a:ext>
            </a:extLst>
          </p:cNvPr>
          <p:cNvSpPr txBox="1"/>
          <p:nvPr/>
        </p:nvSpPr>
        <p:spPr>
          <a:xfrm>
            <a:off x="889000" y="1587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50000"/>
                </a:solidFill>
              </a:rPr>
              <a:t>SUPER ADMIN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78F55E9-4D7F-36ED-AEB7-E65ED7EDA1C3}"/>
              </a:ext>
            </a:extLst>
          </p:cNvPr>
          <p:cNvSpPr txBox="1"/>
          <p:nvPr/>
        </p:nvSpPr>
        <p:spPr>
          <a:xfrm>
            <a:off x="3302000" y="1587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Supervision globale. Abonnements, plans, codes, modules par restaurant.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445ECA-4EBC-39F4-9C57-222676FF2BFE}"/>
              </a:ext>
            </a:extLst>
          </p:cNvPr>
          <p:cNvSpPr/>
          <p:nvPr/>
        </p:nvSpPr>
        <p:spPr>
          <a:xfrm>
            <a:off x="635000" y="2159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3BF71-F397-A633-2AB4-D0FCE072A181}"/>
              </a:ext>
            </a:extLst>
          </p:cNvPr>
          <p:cNvSpPr/>
          <p:nvPr/>
        </p:nvSpPr>
        <p:spPr>
          <a:xfrm>
            <a:off x="635000" y="2159000"/>
            <a:ext cx="762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81E98B4-9497-2418-21B2-AA18597354A8}"/>
              </a:ext>
            </a:extLst>
          </p:cNvPr>
          <p:cNvSpPr txBox="1"/>
          <p:nvPr/>
        </p:nvSpPr>
        <p:spPr>
          <a:xfrm>
            <a:off x="889000" y="222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ADMIN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DCB2D4F-B5A6-A6EB-7734-27562995CA85}"/>
              </a:ext>
            </a:extLst>
          </p:cNvPr>
          <p:cNvSpPr txBox="1"/>
          <p:nvPr/>
        </p:nvSpPr>
        <p:spPr>
          <a:xfrm>
            <a:off x="3302000" y="2222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Gestion complete du restaurant. Zones, cloture globale, parametres, stats.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3147FD-4696-2872-286A-1330D035C30D}"/>
              </a:ext>
            </a:extLst>
          </p:cNvPr>
          <p:cNvSpPr/>
          <p:nvPr/>
        </p:nvSpPr>
        <p:spPr>
          <a:xfrm>
            <a:off x="635000" y="2794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86EF3E-DE45-BAFB-2937-6A9DA9822249}"/>
              </a:ext>
            </a:extLst>
          </p:cNvPr>
          <p:cNvSpPr/>
          <p:nvPr/>
        </p:nvSpPr>
        <p:spPr>
          <a:xfrm>
            <a:off x="635000" y="2794000"/>
            <a:ext cx="76200" cy="50800"/>
          </a:xfrm>
          <a:prstGeom prst="rect">
            <a:avLst/>
          </a:prstGeom>
          <a:solidFill>
            <a:srgbClr val="D6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247B3DA-323C-F938-4E00-BB1CB40D7504}"/>
              </a:ext>
            </a:extLst>
          </p:cNvPr>
          <p:cNvSpPr txBox="1"/>
          <p:nvPr/>
        </p:nvSpPr>
        <p:spPr>
          <a:xfrm>
            <a:off x="889000" y="2857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D60000"/>
                </a:solidFill>
              </a:rPr>
              <a:t>MANAGER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77F04ED-85A4-4612-60A0-13ADAD75A333}"/>
              </a:ext>
            </a:extLst>
          </p:cNvPr>
          <p:cNvSpPr txBox="1"/>
          <p:nvPr/>
        </p:nvSpPr>
        <p:spPr>
          <a:xfrm>
            <a:off x="3302000" y="2857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Plannings, affectations, statistiques, menus, gestion des utilisateurs.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443E7B-855A-7019-07EA-C9A7D27FFFA7}"/>
              </a:ext>
            </a:extLst>
          </p:cNvPr>
          <p:cNvSpPr/>
          <p:nvPr/>
        </p:nvSpPr>
        <p:spPr>
          <a:xfrm>
            <a:off x="635000" y="3429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75B46E-F89B-526E-DC5B-FD9A494D89A9}"/>
              </a:ext>
            </a:extLst>
          </p:cNvPr>
          <p:cNvSpPr/>
          <p:nvPr/>
        </p:nvSpPr>
        <p:spPr>
          <a:xfrm>
            <a:off x="635000" y="3429000"/>
            <a:ext cx="76200" cy="50800"/>
          </a:xfrm>
          <a:prstGeom prst="rect">
            <a:avLst/>
          </a:prstGeom>
          <a:solidFill>
            <a:srgbClr val="3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3BF613F-94BD-466A-44E7-817DE779FB8C}"/>
              </a:ext>
            </a:extLst>
          </p:cNvPr>
          <p:cNvSpPr txBox="1"/>
          <p:nvPr/>
        </p:nvSpPr>
        <p:spPr>
          <a:xfrm>
            <a:off x="889000" y="349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380000"/>
                </a:solidFill>
              </a:rPr>
              <a:t>RECEPTIONNISTE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4CF1AB4-2A8E-5D8B-02AF-39D7335D479A}"/>
              </a:ext>
            </a:extLst>
          </p:cNvPr>
          <p:cNvSpPr txBox="1"/>
          <p:nvPr/>
        </p:nvSpPr>
        <p:spPr>
          <a:xfrm>
            <a:off x="3302000" y="3492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Accueil, creation de commandes, reservations, livraisons, affectations.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321A31-B9B7-27FC-CB7B-DF23DC1B1DCF}"/>
              </a:ext>
            </a:extLst>
          </p:cNvPr>
          <p:cNvSpPr/>
          <p:nvPr/>
        </p:nvSpPr>
        <p:spPr>
          <a:xfrm>
            <a:off x="635000" y="4064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FA3C50-9E52-AFFE-4BF0-BCBEB35064D2}"/>
              </a:ext>
            </a:extLst>
          </p:cNvPr>
          <p:cNvSpPr/>
          <p:nvPr/>
        </p:nvSpPr>
        <p:spPr>
          <a:xfrm>
            <a:off x="635000" y="4064000"/>
            <a:ext cx="762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9104507-11FC-01C1-CA11-FF275FE0CCDF}"/>
              </a:ext>
            </a:extLst>
          </p:cNvPr>
          <p:cNvSpPr txBox="1"/>
          <p:nvPr/>
        </p:nvSpPr>
        <p:spPr>
          <a:xfrm>
            <a:off x="889000" y="4127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2C0000"/>
                </a:solidFill>
              </a:rPr>
              <a:t>SERVEUR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0798CC7-0E30-9669-C88B-D7BA186D9D9D}"/>
              </a:ext>
            </a:extLst>
          </p:cNvPr>
          <p:cNvSpPr txBox="1"/>
          <p:nvPr/>
        </p:nvSpPr>
        <p:spPr>
          <a:xfrm>
            <a:off x="3302000" y="4127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Valider les commandes, servir, voir uniquement ses tables et commandes.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72BDBC-F61F-94BF-3130-66D5C633D781}"/>
              </a:ext>
            </a:extLst>
          </p:cNvPr>
          <p:cNvSpPr/>
          <p:nvPr/>
        </p:nvSpPr>
        <p:spPr>
          <a:xfrm>
            <a:off x="635000" y="4699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02ED5F-9EC9-9A35-6CCA-CD1093ECBC1D}"/>
              </a:ext>
            </a:extLst>
          </p:cNvPr>
          <p:cNvSpPr/>
          <p:nvPr/>
        </p:nvSpPr>
        <p:spPr>
          <a:xfrm>
            <a:off x="635000" y="4699000"/>
            <a:ext cx="76200" cy="508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CB41788-5BBD-DFD3-7C42-63351A9DE886}"/>
              </a:ext>
            </a:extLst>
          </p:cNvPr>
          <p:cNvSpPr txBox="1"/>
          <p:nvPr/>
        </p:nvSpPr>
        <p:spPr>
          <a:xfrm>
            <a:off x="889000" y="476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800000"/>
                </a:solidFill>
              </a:rPr>
              <a:t>CUISINE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03BC0CA-B64A-C96A-8AF0-9F3F4663BAB9}"/>
              </a:ext>
            </a:extLst>
          </p:cNvPr>
          <p:cNvSpPr txBox="1"/>
          <p:nvPr/>
        </p:nvSpPr>
        <p:spPr>
          <a:xfrm>
            <a:off x="3302000" y="4762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Dashboard FIFO avec timer. Mise en preparation, articles prets, Tout pret.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5A8B05-D24D-8001-3F7F-650313D6B776}"/>
              </a:ext>
            </a:extLst>
          </p:cNvPr>
          <p:cNvSpPr/>
          <p:nvPr/>
        </p:nvSpPr>
        <p:spPr>
          <a:xfrm>
            <a:off x="635000" y="5334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644C34-2812-45A6-C8DF-FA872C36AAAB}"/>
              </a:ext>
            </a:extLst>
          </p:cNvPr>
          <p:cNvSpPr/>
          <p:nvPr/>
        </p:nvSpPr>
        <p:spPr>
          <a:xfrm>
            <a:off x="635000" y="5334000"/>
            <a:ext cx="76200" cy="508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5D9124C-495B-3899-9CA5-44578EB957CB}"/>
              </a:ext>
            </a:extLst>
          </p:cNvPr>
          <p:cNvSpPr txBox="1"/>
          <p:nvPr/>
        </p:nvSpPr>
        <p:spPr>
          <a:xfrm>
            <a:off x="889000" y="5397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800000"/>
                </a:solidFill>
              </a:rPr>
              <a:t>BAR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8602410-2E3F-785C-2FC5-344B0DE92766}"/>
              </a:ext>
            </a:extLst>
          </p:cNvPr>
          <p:cNvSpPr txBox="1"/>
          <p:nvPr/>
        </p:nvSpPr>
        <p:spPr>
          <a:xfrm>
            <a:off x="3302000" y="5397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Dashboard FIFO identique cuisine mais filtre sur les boissons uniquement.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F78226-0A2E-D6DE-C5F7-39BED769C5A2}"/>
              </a:ext>
            </a:extLst>
          </p:cNvPr>
          <p:cNvSpPr/>
          <p:nvPr/>
        </p:nvSpPr>
        <p:spPr>
          <a:xfrm>
            <a:off x="635000" y="5969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96D69F-4C13-0C93-7C67-4DEB903E8C53}"/>
              </a:ext>
            </a:extLst>
          </p:cNvPr>
          <p:cNvSpPr/>
          <p:nvPr/>
        </p:nvSpPr>
        <p:spPr>
          <a:xfrm>
            <a:off x="635000" y="5969000"/>
            <a:ext cx="76200" cy="50800"/>
          </a:xfrm>
          <a:prstGeom prst="rect">
            <a:avLst/>
          </a:prstGeom>
          <a:solidFill>
            <a:srgbClr val="2D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FA72D88-B369-2EDB-3B6F-9766DD06E794}"/>
              </a:ext>
            </a:extLst>
          </p:cNvPr>
          <p:cNvSpPr txBox="1"/>
          <p:nvPr/>
        </p:nvSpPr>
        <p:spPr>
          <a:xfrm>
            <a:off x="889000" y="603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2D0000"/>
                </a:solidFill>
              </a:rPr>
              <a:t>CAISSIER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E8BA35F-E492-B590-B083-65492470BBDF}"/>
              </a:ext>
            </a:extLst>
          </p:cNvPr>
          <p:cNvSpPr txBox="1"/>
          <p:nvPr/>
        </p:nvSpPr>
        <p:spPr>
          <a:xfrm>
            <a:off x="3302000" y="6032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Encaissement, remises, factures, recherche CMD, cloture caissier.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6EDBCE-61E9-3937-E915-153F37E5B42A}"/>
              </a:ext>
            </a:extLst>
          </p:cNvPr>
          <p:cNvSpPr/>
          <p:nvPr/>
        </p:nvSpPr>
        <p:spPr>
          <a:xfrm>
            <a:off x="635000" y="6604000"/>
            <a:ext cx="10922000" cy="5715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61F115-8E02-EB91-B3AC-0E9D4BB18FA2}"/>
              </a:ext>
            </a:extLst>
          </p:cNvPr>
          <p:cNvSpPr/>
          <p:nvPr/>
        </p:nvSpPr>
        <p:spPr>
          <a:xfrm>
            <a:off x="635000" y="6604000"/>
            <a:ext cx="76200" cy="50800"/>
          </a:xfrm>
          <a:prstGeom prst="rect">
            <a:avLst/>
          </a:prstGeom>
          <a:solidFill>
            <a:srgbClr val="71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F694F416-18CD-AE8F-F0FC-F8268E6DF578}"/>
              </a:ext>
            </a:extLst>
          </p:cNvPr>
          <p:cNvSpPr txBox="1"/>
          <p:nvPr/>
        </p:nvSpPr>
        <p:spPr>
          <a:xfrm>
            <a:off x="889000" y="6667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710000"/>
                </a:solidFill>
              </a:rPr>
              <a:t>LIVREUR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3CDA93C2-057A-E4DC-286B-8B29340DE9B8}"/>
              </a:ext>
            </a:extLst>
          </p:cNvPr>
          <p:cNvSpPr txBox="1"/>
          <p:nvPr/>
        </p:nvSpPr>
        <p:spPr>
          <a:xfrm>
            <a:off x="3302000" y="66675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Voit les livraisons a effectuer, met a jour le statut (En cours, Livree).</a:t>
            </a:r>
          </a:p>
        </p:txBody>
      </p:sp>
    </p:spTree>
    <p:extLst>
      <p:ext uri="{BB962C8B-B14F-4D97-AF65-F5344CB8AC3E}">
        <p14:creationId xmlns:p14="http://schemas.microsoft.com/office/powerpoint/2010/main" val="3753304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CE3D5-7FC3-6138-3A39-ED1108D22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4CC7CC-ACF3-4CEA-8D19-596E2E2E33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A5463-8CC5-409A-D10B-875AA5FA69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0FACB-8F06-27F2-22E8-1319718E9D17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B845176-BE29-154C-1BBB-57EB2E69CC5A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Fonctionnalites Principales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281BD60-2A84-546A-4A61-E9DD07B3EFEF}"/>
              </a:ext>
            </a:extLst>
          </p:cNvPr>
          <p:cNvSpPr txBox="1"/>
          <p:nvPr/>
        </p:nvSpPr>
        <p:spPr>
          <a:xfrm>
            <a:off x="635000" y="16510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[Client] Commande par scan QR code -- chaque table a son QR unique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984A2-0EEB-A496-8AF9-67201A791A0E}"/>
              </a:ext>
            </a:extLst>
          </p:cNvPr>
          <p:cNvSpPr/>
          <p:nvPr/>
        </p:nvSpPr>
        <p:spPr>
          <a:xfrm>
            <a:off x="635000" y="21082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602F635-07F7-18A0-5CB7-0C6855B103ED}"/>
              </a:ext>
            </a:extLst>
          </p:cNvPr>
          <p:cNvSpPr txBox="1"/>
          <p:nvPr/>
        </p:nvSpPr>
        <p:spPr>
          <a:xfrm>
            <a:off x="635000" y="21844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[IA] Assistant IA de commande -- commandez par texte ou par voix avec Claude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4CEFB3-4ED5-042A-B89C-8B245CB70DDE}"/>
              </a:ext>
            </a:extLst>
          </p:cNvPr>
          <p:cNvSpPr/>
          <p:nvPr/>
        </p:nvSpPr>
        <p:spPr>
          <a:xfrm>
            <a:off x="635000" y="26416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EB301F3-27B4-9ECF-E6DA-C1D5944F3006}"/>
              </a:ext>
            </a:extLst>
          </p:cNvPr>
          <p:cNvSpPr txBox="1"/>
          <p:nvPr/>
        </p:nvSpPr>
        <p:spPr>
          <a:xfrm>
            <a:off x="635000" y="27178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[Cuisine] Dashboard Cuisine FIFO -- timer, code couleur, actions par article/table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544C3-D0BE-26B6-67D3-A87E09E5EB85}"/>
              </a:ext>
            </a:extLst>
          </p:cNvPr>
          <p:cNvSpPr/>
          <p:nvPr/>
        </p:nvSpPr>
        <p:spPr>
          <a:xfrm>
            <a:off x="635000" y="31750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A1BD95D-EB8B-4C3D-F38E-A4E091FF6069}"/>
              </a:ext>
            </a:extLst>
          </p:cNvPr>
          <p:cNvSpPr txBox="1"/>
          <p:nvPr/>
        </p:nvSpPr>
        <p:spPr>
          <a:xfrm>
            <a:off x="635000" y="32512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[Bar] Dashboard Bar dedie -- filtrage automatique des boissons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C4BF24-0388-4237-A917-2FE793776077}"/>
              </a:ext>
            </a:extLst>
          </p:cNvPr>
          <p:cNvSpPr/>
          <p:nvPr/>
        </p:nvSpPr>
        <p:spPr>
          <a:xfrm>
            <a:off x="635000" y="37084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472892D-75A1-1FCD-5CB0-A2108C76C955}"/>
              </a:ext>
            </a:extLst>
          </p:cNvPr>
          <p:cNvSpPr txBox="1"/>
          <p:nvPr/>
        </p:nvSpPr>
        <p:spPr>
          <a:xfrm>
            <a:off x="635000" y="37846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[Caisse] Caisse complete -- recherche par CMD, remises, factures, cloture caissier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70E701-D132-3F9C-B0CD-2F92896BB40D}"/>
              </a:ext>
            </a:extLst>
          </p:cNvPr>
          <p:cNvSpPr/>
          <p:nvPr/>
        </p:nvSpPr>
        <p:spPr>
          <a:xfrm>
            <a:off x="635000" y="42418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866DD49-D007-CD1B-5B5B-8DE4D7B749ED}"/>
              </a:ext>
            </a:extLst>
          </p:cNvPr>
          <p:cNvSpPr txBox="1"/>
          <p:nvPr/>
        </p:nvSpPr>
        <p:spPr>
          <a:xfrm>
            <a:off x="635000" y="43180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[Livraison] Gestion des livraisons -- assignation, suivi, statuts livreur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179A8E-568E-1411-A93D-2FE9848FE43F}"/>
              </a:ext>
            </a:extLst>
          </p:cNvPr>
          <p:cNvSpPr/>
          <p:nvPr/>
        </p:nvSpPr>
        <p:spPr>
          <a:xfrm>
            <a:off x="635000" y="47752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716DA45-1207-8E49-D63E-C726DFFB8CC4}"/>
              </a:ext>
            </a:extLst>
          </p:cNvPr>
          <p:cNvSpPr txBox="1"/>
          <p:nvPr/>
        </p:nvSpPr>
        <p:spPr>
          <a:xfrm>
            <a:off x="635000" y="48514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[Reservation] Reservations de tables -- confirmation, honoree, annulation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DDC744-FE7E-678E-9151-A50A52A41C76}"/>
              </a:ext>
            </a:extLst>
          </p:cNvPr>
          <p:cNvSpPr/>
          <p:nvPr/>
        </p:nvSpPr>
        <p:spPr>
          <a:xfrm>
            <a:off x="635000" y="53086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EA7E517-D3A1-17BD-CDDC-6D9A81800252}"/>
              </a:ext>
            </a:extLst>
          </p:cNvPr>
          <p:cNvSpPr txBox="1"/>
          <p:nvPr/>
        </p:nvSpPr>
        <p:spPr>
          <a:xfrm>
            <a:off x="635000" y="53848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[Zones] Zones tarifaires -- coefficients de prix par zone (Terrasse, VIP, etc.)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5EFCEB-0F11-DD0A-2DA8-3F56C101F18E}"/>
              </a:ext>
            </a:extLst>
          </p:cNvPr>
          <p:cNvSpPr/>
          <p:nvPr/>
        </p:nvSpPr>
        <p:spPr>
          <a:xfrm>
            <a:off x="635000" y="58420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F54E7D6-A67B-F85B-323D-CFDC77580247}"/>
              </a:ext>
            </a:extLst>
          </p:cNvPr>
          <p:cNvSpPr txBox="1"/>
          <p:nvPr/>
        </p:nvSpPr>
        <p:spPr>
          <a:xfrm>
            <a:off x="635000" y="59182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[Menu] Variantes de menu -- options avec prix distincts (avec/sans alcool)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4BD33B-103F-4A0F-5552-DB77BFD16824}"/>
              </a:ext>
            </a:extLst>
          </p:cNvPr>
          <p:cNvSpPr/>
          <p:nvPr/>
        </p:nvSpPr>
        <p:spPr>
          <a:xfrm>
            <a:off x="635000" y="6375400"/>
            <a:ext cx="381000" cy="508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6F5682F-55DE-923A-2EB2-B734D12024D5}"/>
              </a:ext>
            </a:extLst>
          </p:cNvPr>
          <p:cNvSpPr txBox="1"/>
          <p:nvPr/>
        </p:nvSpPr>
        <p:spPr>
          <a:xfrm>
            <a:off x="6604000" y="16510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[Stock] Gestion de stock -- decrementation auto, indisponibilite automatique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BE74C4-F63D-C142-8C21-5323E9FA7251}"/>
              </a:ext>
            </a:extLst>
          </p:cNvPr>
          <p:cNvSpPr/>
          <p:nvPr/>
        </p:nvSpPr>
        <p:spPr>
          <a:xfrm>
            <a:off x="6604000" y="21082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6083B96-FC1E-4F00-896F-4CCF4924F28D}"/>
              </a:ext>
            </a:extLst>
          </p:cNvPr>
          <p:cNvSpPr txBox="1"/>
          <p:nvPr/>
        </p:nvSpPr>
        <p:spPr>
          <a:xfrm>
            <a:off x="6604000" y="21844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[Impression] Impression thermique ESC/POS -- tickets cuisine/bar et recus caisse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81F102-23C9-E633-AE80-EC44298820A4}"/>
              </a:ext>
            </a:extLst>
          </p:cNvPr>
          <p:cNvSpPr/>
          <p:nvPr/>
        </p:nvSpPr>
        <p:spPr>
          <a:xfrm>
            <a:off x="6604000" y="26416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414867B-08DC-0E95-4A2C-0436E0DC7DC7}"/>
              </a:ext>
            </a:extLst>
          </p:cNvPr>
          <p:cNvSpPr txBox="1"/>
          <p:nvPr/>
        </p:nvSpPr>
        <p:spPr>
          <a:xfrm>
            <a:off x="6604000" y="27178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[Stats] Statistiques avancees -- CA, panier moyen, plats populaires, marge brute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06B8D1-F7C3-9898-7A33-FFFB5BC50D8B}"/>
              </a:ext>
            </a:extLst>
          </p:cNvPr>
          <p:cNvSpPr/>
          <p:nvPr/>
        </p:nvSpPr>
        <p:spPr>
          <a:xfrm>
            <a:off x="6604000" y="31750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259F1DD-D643-F50A-BEA3-810ECD7C41E0}"/>
              </a:ext>
            </a:extLst>
          </p:cNvPr>
          <p:cNvSpPr txBox="1"/>
          <p:nvPr/>
        </p:nvSpPr>
        <p:spPr>
          <a:xfrm>
            <a:off x="6604000" y="32512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[Securite] Cloture caissier et cloture globale -- reouverture automatique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27ECD0-B095-5F9B-7AF7-024B71A1B5E1}"/>
              </a:ext>
            </a:extLst>
          </p:cNvPr>
          <p:cNvSpPr/>
          <p:nvPr/>
        </p:nvSpPr>
        <p:spPr>
          <a:xfrm>
            <a:off x="6604000" y="37084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00C7B9F-FC6E-4716-8DA0-D44B86DED8AD}"/>
              </a:ext>
            </a:extLst>
          </p:cNvPr>
          <p:cNvSpPr txBox="1"/>
          <p:nvPr/>
        </p:nvSpPr>
        <p:spPr>
          <a:xfrm>
            <a:off x="6604000" y="37846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[Evaluation] Evaluations clients -- service, cuisine, ambiance (1 a 5 etoiles)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8FD349-B796-E149-9370-04F143FE7F3D}"/>
              </a:ext>
            </a:extLst>
          </p:cNvPr>
          <p:cNvSpPr/>
          <p:nvPr/>
        </p:nvSpPr>
        <p:spPr>
          <a:xfrm>
            <a:off x="6604000" y="42418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6B15046-2025-9EC8-3FE4-38B4BEF18A0D}"/>
              </a:ext>
            </a:extLst>
          </p:cNvPr>
          <p:cNvSpPr txBox="1"/>
          <p:nvPr/>
        </p:nvSpPr>
        <p:spPr>
          <a:xfrm>
            <a:off x="6604000" y="43180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[Abonnement] Abonnement -- trial 14j, plans mensuels/trimestriels/annuels, codes AES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D806A3-90EF-4190-CC2D-6D1BA441B36F}"/>
              </a:ext>
            </a:extLst>
          </p:cNvPr>
          <p:cNvSpPr/>
          <p:nvPr/>
        </p:nvSpPr>
        <p:spPr>
          <a:xfrm>
            <a:off x="6604000" y="47752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F75BF17-D97C-5A56-0623-802091D58DE5}"/>
              </a:ext>
            </a:extLst>
          </p:cNvPr>
          <p:cNvSpPr txBox="1"/>
          <p:nvPr/>
        </p:nvSpPr>
        <p:spPr>
          <a:xfrm>
            <a:off x="6604000" y="48514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[Modules] Modules dynamiques -- visibilite personnalisee par utilisateur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F1A214-917F-51FE-EF0F-BEE18F4942E4}"/>
              </a:ext>
            </a:extLst>
          </p:cNvPr>
          <p:cNvSpPr/>
          <p:nvPr/>
        </p:nvSpPr>
        <p:spPr>
          <a:xfrm>
            <a:off x="6604000" y="53086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AB8D67D-C70C-5B51-276D-7280FFC85BE9}"/>
              </a:ext>
            </a:extLst>
          </p:cNvPr>
          <p:cNvSpPr txBox="1"/>
          <p:nvPr/>
        </p:nvSpPr>
        <p:spPr>
          <a:xfrm>
            <a:off x="6604000" y="53848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[Planning] Planning employes -- verification quotidienne a la connexion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CF7F9F-42A1-9300-DC15-4A2CAD0EEDA6}"/>
              </a:ext>
            </a:extLst>
          </p:cNvPr>
          <p:cNvSpPr/>
          <p:nvPr/>
        </p:nvSpPr>
        <p:spPr>
          <a:xfrm>
            <a:off x="6604000" y="58420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C882FA7-EC62-BA65-0505-14552B35BA47}"/>
              </a:ext>
            </a:extLst>
          </p:cNvPr>
          <p:cNvSpPr txBox="1"/>
          <p:nvPr/>
        </p:nvSpPr>
        <p:spPr>
          <a:xfrm>
            <a:off x="6604000" y="5918200"/>
            <a:ext cx="571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2D0000"/>
                </a:solidFill>
              </a:rPr>
              <a:t>[Reception] Mode Reception -- alternative au mode serveur classique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2EAB62-71CC-92F1-8CF6-C15D4A6D4D00}"/>
              </a:ext>
            </a:extLst>
          </p:cNvPr>
          <p:cNvSpPr/>
          <p:nvPr/>
        </p:nvSpPr>
        <p:spPr>
          <a:xfrm>
            <a:off x="6604000" y="6375400"/>
            <a:ext cx="381000" cy="508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563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4BEAE-8372-C34A-5ABE-F24A0F1E1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4A342-96B8-4BC9-DEB4-C5DF90B0DC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552B9C-019E-73DF-C95E-89B78B24A1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03D0B3-D3A9-6EB7-CD43-5C3C5CD61891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0987A5C-8231-AA72-56DB-9F9494110D12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Stack Technique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63C611-3F4E-4907-E743-41547ED08BD0}"/>
              </a:ext>
            </a:extLst>
          </p:cNvPr>
          <p:cNvSpPr/>
          <p:nvPr/>
        </p:nvSpPr>
        <p:spPr>
          <a:xfrm>
            <a:off x="635000" y="1651000"/>
            <a:ext cx="10922000" cy="482600"/>
          </a:xfrm>
          <a:prstGeom prst="rect">
            <a:avLst/>
          </a:prstGeom>
          <a:solidFill>
            <a:srgbClr val="E2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B49C60-FDFC-BF3C-51AE-A35E1A8CBEC7}"/>
              </a:ext>
            </a:extLst>
          </p:cNvPr>
          <p:cNvSpPr txBox="1"/>
          <p:nvPr/>
        </p:nvSpPr>
        <p:spPr>
          <a:xfrm>
            <a:off x="762000" y="17145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Framework Backend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8444257-2E92-76B7-93B4-3299B092B5A5}"/>
              </a:ext>
            </a:extLst>
          </p:cNvPr>
          <p:cNvSpPr txBox="1"/>
          <p:nvPr/>
        </p:nvSpPr>
        <p:spPr>
          <a:xfrm>
            <a:off x="3683000" y="17145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NestJS 10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F8E3878-13A9-18AB-7DCB-3C3B1845600A}"/>
              </a:ext>
            </a:extLst>
          </p:cNvPr>
          <p:cNvSpPr txBox="1"/>
          <p:nvPr/>
        </p:nvSpPr>
        <p:spPr>
          <a:xfrm>
            <a:off x="7112000" y="17145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Architecture modulaire TypeScript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CC9051-B7F5-6699-83B1-A00B410646E6}"/>
              </a:ext>
            </a:extLst>
          </p:cNvPr>
          <p:cNvSpPr/>
          <p:nvPr/>
        </p:nvSpPr>
        <p:spPr>
          <a:xfrm>
            <a:off x="635000" y="2171700"/>
            <a:ext cx="10922000" cy="4826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E12A8EC-2954-4FF6-A2F9-B2C1F7FCF583}"/>
              </a:ext>
            </a:extLst>
          </p:cNvPr>
          <p:cNvSpPr txBox="1"/>
          <p:nvPr/>
        </p:nvSpPr>
        <p:spPr>
          <a:xfrm>
            <a:off x="762000" y="22352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Base de donnees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C24287A-1D5C-86B9-E60D-910000C62658}"/>
              </a:ext>
            </a:extLst>
          </p:cNvPr>
          <p:cNvSpPr txBox="1"/>
          <p:nvPr/>
        </p:nvSpPr>
        <p:spPr>
          <a:xfrm>
            <a:off x="3683000" y="22352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MySQL 8 + Prisma 4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EBF12C3-3C30-D8AC-44CE-75442FB8F3CE}"/>
              </a:ext>
            </a:extLst>
          </p:cNvPr>
          <p:cNvSpPr txBox="1"/>
          <p:nvPr/>
        </p:nvSpPr>
        <p:spPr>
          <a:xfrm>
            <a:off x="7112000" y="22352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ORM type-safe, migrations, seeding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6BCFAC-C616-C57E-D662-C53A04510B28}"/>
              </a:ext>
            </a:extLst>
          </p:cNvPr>
          <p:cNvSpPr/>
          <p:nvPr/>
        </p:nvSpPr>
        <p:spPr>
          <a:xfrm>
            <a:off x="635000" y="2692400"/>
            <a:ext cx="10922000" cy="482600"/>
          </a:xfrm>
          <a:prstGeom prst="rect">
            <a:avLst/>
          </a:prstGeom>
          <a:solidFill>
            <a:srgbClr val="E2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11B27D6-FF51-DE57-095F-1481660BAB3F}"/>
              </a:ext>
            </a:extLst>
          </p:cNvPr>
          <p:cNvSpPr txBox="1"/>
          <p:nvPr/>
        </p:nvSpPr>
        <p:spPr>
          <a:xfrm>
            <a:off x="762000" y="27559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Temps reel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8C2AF89-CD35-C243-C051-32CED8A47064}"/>
              </a:ext>
            </a:extLst>
          </p:cNvPr>
          <p:cNvSpPr txBox="1"/>
          <p:nvPr/>
        </p:nvSpPr>
        <p:spPr>
          <a:xfrm>
            <a:off x="3683000" y="27559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Socket.IO 4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606112D-1367-28C0-4A87-8067332FDB19}"/>
              </a:ext>
            </a:extLst>
          </p:cNvPr>
          <p:cNvSpPr txBox="1"/>
          <p:nvPr/>
        </p:nvSpPr>
        <p:spPr>
          <a:xfrm>
            <a:off x="7112000" y="27559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Notifications instantanees multi-canaux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16BA93-8958-8CEE-D041-10EAE5A01335}"/>
              </a:ext>
            </a:extLst>
          </p:cNvPr>
          <p:cNvSpPr/>
          <p:nvPr/>
        </p:nvSpPr>
        <p:spPr>
          <a:xfrm>
            <a:off x="635000" y="3213100"/>
            <a:ext cx="10922000" cy="4826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CB996BC-4AFC-0950-B50B-C2BAFBE3F531}"/>
              </a:ext>
            </a:extLst>
          </p:cNvPr>
          <p:cNvSpPr txBox="1"/>
          <p:nvPr/>
        </p:nvSpPr>
        <p:spPr>
          <a:xfrm>
            <a:off x="762000" y="32766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Authentification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6AB073A-381A-FC30-B945-E4E43146F7D8}"/>
              </a:ext>
            </a:extLst>
          </p:cNvPr>
          <p:cNvSpPr txBox="1"/>
          <p:nvPr/>
        </p:nvSpPr>
        <p:spPr>
          <a:xfrm>
            <a:off x="3683000" y="32766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JWT + Passport + Bcrypt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D39F102-5D70-78CB-D1CE-59AAC4B18D60}"/>
              </a:ext>
            </a:extLst>
          </p:cNvPr>
          <p:cNvSpPr txBox="1"/>
          <p:nvPr/>
        </p:nvSpPr>
        <p:spPr>
          <a:xfrm>
            <a:off x="7112000" y="32766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Tokens 12h, roles, guards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B7C75E-C998-F2AF-4609-DF76CBB2A447}"/>
              </a:ext>
            </a:extLst>
          </p:cNvPr>
          <p:cNvSpPr/>
          <p:nvPr/>
        </p:nvSpPr>
        <p:spPr>
          <a:xfrm>
            <a:off x="635000" y="3733800"/>
            <a:ext cx="10922000" cy="482600"/>
          </a:xfrm>
          <a:prstGeom prst="rect">
            <a:avLst/>
          </a:prstGeom>
          <a:solidFill>
            <a:srgbClr val="E2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3C98123-27B2-1AB8-3FE5-99C2882B3BD5}"/>
              </a:ext>
            </a:extLst>
          </p:cNvPr>
          <p:cNvSpPr txBox="1"/>
          <p:nvPr/>
        </p:nvSpPr>
        <p:spPr>
          <a:xfrm>
            <a:off x="762000" y="37973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Intelligence Artificielle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1BB7E35-3EF9-AFA8-8798-7DF1D45CE9DA}"/>
              </a:ext>
            </a:extLst>
          </p:cNvPr>
          <p:cNvSpPr txBox="1"/>
          <p:nvPr/>
        </p:nvSpPr>
        <p:spPr>
          <a:xfrm>
            <a:off x="3683000" y="37973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Claude (Anthropic SDK)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4FC3AB4-0DCC-B010-D257-17E4ED86412E}"/>
              </a:ext>
            </a:extLst>
          </p:cNvPr>
          <p:cNvSpPr txBox="1"/>
          <p:nvPr/>
        </p:nvSpPr>
        <p:spPr>
          <a:xfrm>
            <a:off x="7112000" y="37973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Commande vocale/textuelle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5F82B6-7E50-12C5-C728-0CD08ECD518B}"/>
              </a:ext>
            </a:extLst>
          </p:cNvPr>
          <p:cNvSpPr/>
          <p:nvPr/>
        </p:nvSpPr>
        <p:spPr>
          <a:xfrm>
            <a:off x="635000" y="4254500"/>
            <a:ext cx="10922000" cy="4826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804AA16-1FE8-A508-008B-597F39C310B4}"/>
              </a:ext>
            </a:extLst>
          </p:cNvPr>
          <p:cNvSpPr txBox="1"/>
          <p:nvPr/>
        </p:nvSpPr>
        <p:spPr>
          <a:xfrm>
            <a:off x="762000" y="43180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QR Codes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9F4E906-A8BD-BB0C-0193-0ED00C2C7AA2}"/>
              </a:ext>
            </a:extLst>
          </p:cNvPr>
          <p:cNvSpPr txBox="1"/>
          <p:nvPr/>
        </p:nvSpPr>
        <p:spPr>
          <a:xfrm>
            <a:off x="3683000" y="4318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qrcode (npm)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0BDFB0F-A9EB-566F-3B0E-35D24A2E141D}"/>
              </a:ext>
            </a:extLst>
          </p:cNvPr>
          <p:cNvSpPr txBox="1"/>
          <p:nvPr/>
        </p:nvSpPr>
        <p:spPr>
          <a:xfrm>
            <a:off x="7112000" y="43180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Generation dynamique par table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F7286-AE1A-0968-0E03-FE6EA70DBD55}"/>
              </a:ext>
            </a:extLst>
          </p:cNvPr>
          <p:cNvSpPr/>
          <p:nvPr/>
        </p:nvSpPr>
        <p:spPr>
          <a:xfrm>
            <a:off x="635000" y="4775200"/>
            <a:ext cx="10922000" cy="482600"/>
          </a:xfrm>
          <a:prstGeom prst="rect">
            <a:avLst/>
          </a:prstGeom>
          <a:solidFill>
            <a:srgbClr val="E2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70E7392-6F52-F7E0-A347-14B3116C64A4}"/>
              </a:ext>
            </a:extLst>
          </p:cNvPr>
          <p:cNvSpPr txBox="1"/>
          <p:nvPr/>
        </p:nvSpPr>
        <p:spPr>
          <a:xfrm>
            <a:off x="762000" y="48387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Frontend Web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C7AC126-9BC3-1CC6-398D-E8598AF543FC}"/>
              </a:ext>
            </a:extLst>
          </p:cNvPr>
          <p:cNvSpPr txBox="1"/>
          <p:nvPr/>
        </p:nvSpPr>
        <p:spPr>
          <a:xfrm>
            <a:off x="3683000" y="48387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React + Vite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29B18AF-D09E-7468-F9F2-66D8EA9189D7}"/>
              </a:ext>
            </a:extLst>
          </p:cNvPr>
          <p:cNvSpPr txBox="1"/>
          <p:nvPr/>
        </p:nvSpPr>
        <p:spPr>
          <a:xfrm>
            <a:off x="7112000" y="48387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Dashboard administrateur complet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7FA52A-9854-1059-3B3B-55D89E491965}"/>
              </a:ext>
            </a:extLst>
          </p:cNvPr>
          <p:cNvSpPr/>
          <p:nvPr/>
        </p:nvSpPr>
        <p:spPr>
          <a:xfrm>
            <a:off x="635000" y="5295900"/>
            <a:ext cx="10922000" cy="4826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2AF58FE-1F6A-D844-D07F-42DCFAD7638D}"/>
              </a:ext>
            </a:extLst>
          </p:cNvPr>
          <p:cNvSpPr txBox="1"/>
          <p:nvPr/>
        </p:nvSpPr>
        <p:spPr>
          <a:xfrm>
            <a:off x="762000" y="53594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Frontend Mobile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BF406F2-682E-B644-58B7-29515377F5DB}"/>
              </a:ext>
            </a:extLst>
          </p:cNvPr>
          <p:cNvSpPr txBox="1"/>
          <p:nvPr/>
        </p:nvSpPr>
        <p:spPr>
          <a:xfrm>
            <a:off x="3683000" y="53594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React Native + Expo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61486F9-EDAF-1275-C57D-FC310766766A}"/>
              </a:ext>
            </a:extLst>
          </p:cNvPr>
          <p:cNvSpPr txBox="1"/>
          <p:nvPr/>
        </p:nvSpPr>
        <p:spPr>
          <a:xfrm>
            <a:off x="7112000" y="53594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Notifications push + vibration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735997-4DDE-9555-31F2-CD9E34EFA801}"/>
              </a:ext>
            </a:extLst>
          </p:cNvPr>
          <p:cNvSpPr/>
          <p:nvPr/>
        </p:nvSpPr>
        <p:spPr>
          <a:xfrm>
            <a:off x="635000" y="5816600"/>
            <a:ext cx="10922000" cy="482600"/>
          </a:xfrm>
          <a:prstGeom prst="rect">
            <a:avLst/>
          </a:prstGeom>
          <a:solidFill>
            <a:srgbClr val="E2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08A40B3-3ABB-9E19-5899-331BC145358A}"/>
              </a:ext>
            </a:extLst>
          </p:cNvPr>
          <p:cNvSpPr txBox="1"/>
          <p:nvPr/>
        </p:nvSpPr>
        <p:spPr>
          <a:xfrm>
            <a:off x="762000" y="58801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Impression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B83365D-0794-7232-04E5-FC467B0AB5AF}"/>
              </a:ext>
            </a:extLst>
          </p:cNvPr>
          <p:cNvSpPr txBox="1"/>
          <p:nvPr/>
        </p:nvSpPr>
        <p:spPr>
          <a:xfrm>
            <a:off x="3683000" y="58801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ESC/POS Thermal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69D6DB1-08E8-7C33-A06E-759EEF4BC1B1}"/>
              </a:ext>
            </a:extLst>
          </p:cNvPr>
          <p:cNvSpPr txBox="1"/>
          <p:nvPr/>
        </p:nvSpPr>
        <p:spPr>
          <a:xfrm>
            <a:off x="7112000" y="58801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Tickets cuisine, bar, recus caisse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858D15-75A1-60B2-371F-74620D980A61}"/>
              </a:ext>
            </a:extLst>
          </p:cNvPr>
          <p:cNvSpPr/>
          <p:nvPr/>
        </p:nvSpPr>
        <p:spPr>
          <a:xfrm>
            <a:off x="635000" y="6337300"/>
            <a:ext cx="10922000" cy="4826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81F4C6C-90DC-55AA-8A50-3EEB0D71C597}"/>
              </a:ext>
            </a:extLst>
          </p:cNvPr>
          <p:cNvSpPr txBox="1"/>
          <p:nvPr/>
        </p:nvSpPr>
        <p:spPr>
          <a:xfrm>
            <a:off x="762000" y="6400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Paiement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EFC06378-003B-DB2B-3B75-DBB54B3A2E0F}"/>
              </a:ext>
            </a:extLst>
          </p:cNvPr>
          <p:cNvSpPr txBox="1"/>
          <p:nvPr/>
        </p:nvSpPr>
        <p:spPr>
          <a:xfrm>
            <a:off x="3683000" y="64008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E80000"/>
                </a:solidFill>
              </a:rPr>
              <a:t>Wave + Orange Money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084EFB3-8CC4-96F6-BB8F-724F7D8CF2A6}"/>
              </a:ext>
            </a:extLst>
          </p:cNvPr>
          <p:cNvSpPr txBox="1"/>
          <p:nvPr/>
        </p:nvSpPr>
        <p:spPr>
          <a:xfrm>
            <a:off x="7112000" y="64008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Instructions de paiement mobile</a:t>
            </a:r>
          </a:p>
        </p:txBody>
      </p:sp>
    </p:spTree>
    <p:extLst>
      <p:ext uri="{BB962C8B-B14F-4D97-AF65-F5344CB8AC3E}">
        <p14:creationId xmlns:p14="http://schemas.microsoft.com/office/powerpoint/2010/main" val="1083487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FE7AEA-C8F6-B75E-D59D-61A74F6BCD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4869D1F-2474-22BA-770B-99A7CF4F2A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183DFF-76BB-C894-BFD9-16BAB70894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EA3E5F-28C7-2680-A900-E0DF3520DEDE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B10F81-567B-7FBC-7CCB-F411005402C6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Vue d'Ensemble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C6CF6A-ADE5-82A6-70A8-F4A6A7B16AF8}"/>
              </a:ext>
            </a:extLst>
          </p:cNvPr>
          <p:cNvSpPr txBox="1"/>
          <p:nvPr/>
        </p:nvSpPr>
        <p:spPr>
          <a:xfrm>
            <a:off x="635000" y="1651000"/>
            <a:ext cx="10922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>
                <a:solidFill>
                  <a:srgbClr val="2D0000"/>
                </a:solidFill>
              </a:rPr>
              <a:t>RestoPro est une solution complete de gestion de restaurant qui digitalise l'ensemble du parcours client -- de la commande au paiement -- grace aux QR codes, a l'intelligence artificielle et aux notifications en temps reel.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019CB9-E244-8916-7167-E496ACB370D4}"/>
              </a:ext>
            </a:extLst>
          </p:cNvPr>
          <p:cNvSpPr/>
          <p:nvPr/>
        </p:nvSpPr>
        <p:spPr>
          <a:xfrm>
            <a:off x="635000" y="2794000"/>
            <a:ext cx="2540000" cy="1905000"/>
          </a:xfrm>
          <a:prstGeom prst="rect">
            <a:avLst/>
          </a:prstGeom>
          <a:solidFill>
            <a:srgbClr val="2C0000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crgbClr r="0" g="0" b="0">
                <a:alpha val="3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53B82E0-AEDA-4234-638E-9E9EF22042D5}"/>
              </a:ext>
            </a:extLst>
          </p:cNvPr>
          <p:cNvSpPr txBox="1"/>
          <p:nvPr/>
        </p:nvSpPr>
        <p:spPr>
          <a:xfrm>
            <a:off x="762000" y="2921000"/>
            <a:ext cx="50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400" b="1">
                <a:solidFill>
                  <a:srgbClr val="FF0000"/>
                </a:solidFill>
              </a:rPr>
              <a:t>[ ]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3CFECE-60EB-11FC-DDD9-2E651623DF10}"/>
              </a:ext>
            </a:extLst>
          </p:cNvPr>
          <p:cNvSpPr txBox="1"/>
          <p:nvPr/>
        </p:nvSpPr>
        <p:spPr>
          <a:xfrm>
            <a:off x="762000" y="349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FF0000"/>
                </a:solidFill>
              </a:rPr>
              <a:t>QR Code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C477B3-E676-EC3D-BF55-944A97720193}"/>
              </a:ext>
            </a:extLst>
          </p:cNvPr>
          <p:cNvSpPr txBox="1"/>
          <p:nvPr/>
        </p:nvSpPr>
        <p:spPr>
          <a:xfrm>
            <a:off x="762000" y="3873500"/>
            <a:ext cx="2286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FF0000"/>
                </a:solidFill>
              </a:rPr>
              <a:t>Chaque table possede un QR code unique. Le client scanne, consulte le menu et commande directement depuis son telephone.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427416-7C61-DB17-6F92-254F682A2408}"/>
              </a:ext>
            </a:extLst>
          </p:cNvPr>
          <p:cNvSpPr/>
          <p:nvPr/>
        </p:nvSpPr>
        <p:spPr>
          <a:xfrm>
            <a:off x="3429000" y="2794000"/>
            <a:ext cx="2540000" cy="19050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crgbClr r="0" g="0" b="0">
                <a:alpha val="3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E1D6E1A-D7A7-36DD-8F94-2B3E65C034DF}"/>
              </a:ext>
            </a:extLst>
          </p:cNvPr>
          <p:cNvSpPr txBox="1"/>
          <p:nvPr/>
        </p:nvSpPr>
        <p:spPr>
          <a:xfrm>
            <a:off x="3556000" y="2921000"/>
            <a:ext cx="50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400" b="1">
                <a:solidFill>
                  <a:srgbClr val="FF0000"/>
                </a:solidFill>
              </a:rPr>
              <a:t>[ ]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D442F8B-EF8B-4FEC-3194-9794B27541DD}"/>
              </a:ext>
            </a:extLst>
          </p:cNvPr>
          <p:cNvSpPr txBox="1"/>
          <p:nvPr/>
        </p:nvSpPr>
        <p:spPr>
          <a:xfrm>
            <a:off x="3556000" y="349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FF0000"/>
                </a:solidFill>
              </a:rPr>
              <a:t>Assistant IA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426DA17-9C81-C7E4-6BEC-4F71EF338BD8}"/>
              </a:ext>
            </a:extLst>
          </p:cNvPr>
          <p:cNvSpPr txBox="1"/>
          <p:nvPr/>
        </p:nvSpPr>
        <p:spPr>
          <a:xfrm>
            <a:off x="3556000" y="3873500"/>
            <a:ext cx="2286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FF0000"/>
                </a:solidFill>
              </a:rPr>
              <a:t>Commande par texte ou par voix. L'IA Claude analyse et trouve les plats correspondants dans le menu.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82A1C6-8CB4-2860-5193-A73733ECFD68}"/>
              </a:ext>
            </a:extLst>
          </p:cNvPr>
          <p:cNvSpPr/>
          <p:nvPr/>
        </p:nvSpPr>
        <p:spPr>
          <a:xfrm>
            <a:off x="6223000" y="2794000"/>
            <a:ext cx="2540000" cy="1905000"/>
          </a:xfrm>
          <a:prstGeom prst="rect">
            <a:avLst/>
          </a:prstGeom>
          <a:solidFill>
            <a:srgbClr val="380000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crgbClr r="0" g="0" b="0">
                <a:alpha val="3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96692EE-A00D-6580-72AE-74DFB922EC6C}"/>
              </a:ext>
            </a:extLst>
          </p:cNvPr>
          <p:cNvSpPr txBox="1"/>
          <p:nvPr/>
        </p:nvSpPr>
        <p:spPr>
          <a:xfrm>
            <a:off x="6350000" y="2921000"/>
            <a:ext cx="50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400" b="1">
                <a:solidFill>
                  <a:srgbClr val="FF0000"/>
                </a:solidFill>
              </a:rPr>
              <a:t>[ ]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9A44304-2153-ADC9-52C3-96016D86E4F9}"/>
              </a:ext>
            </a:extLst>
          </p:cNvPr>
          <p:cNvSpPr txBox="1"/>
          <p:nvPr/>
        </p:nvSpPr>
        <p:spPr>
          <a:xfrm>
            <a:off x="6350000" y="349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FF0000"/>
                </a:solidFill>
              </a:rPr>
              <a:t>Temps Reel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CA7D967-DA6F-207B-136E-D4F82F7217B2}"/>
              </a:ext>
            </a:extLst>
          </p:cNvPr>
          <p:cNvSpPr txBox="1"/>
          <p:nvPr/>
        </p:nvSpPr>
        <p:spPr>
          <a:xfrm>
            <a:off x="6350000" y="3873500"/>
            <a:ext cx="2286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FF0000"/>
                </a:solidFill>
              </a:rPr>
              <a:t>Socket.IO avec toasts, sons et vibrations. Tous les acteurs sont notifies instantanement.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504D05-B3EC-D8FC-78BD-2647EDA04148}"/>
              </a:ext>
            </a:extLst>
          </p:cNvPr>
          <p:cNvSpPr/>
          <p:nvPr/>
        </p:nvSpPr>
        <p:spPr>
          <a:xfrm>
            <a:off x="9017000" y="2794000"/>
            <a:ext cx="2540000" cy="1905000"/>
          </a:xfrm>
          <a:prstGeom prst="rect">
            <a:avLst/>
          </a:prstGeom>
          <a:solidFill>
            <a:srgbClr val="800000"/>
          </a:solidFill>
          <a:ln w="12700" cap="flat" cmpd="sng" algn="ctr">
            <a:noFill/>
            <a:prstDash val="solid"/>
            <a:miter lim="800000"/>
          </a:ln>
          <a:effectLst>
            <a:prstShdw prst="shdw1" dist="35921" dir="2699995">
              <a:scrgbClr r="0" g="0" b="0">
                <a:alpha val="30000"/>
              </a:scrgbClr>
            </a:prst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FA3BA47-D00F-35D8-CCF9-C2D117F0549A}"/>
              </a:ext>
            </a:extLst>
          </p:cNvPr>
          <p:cNvSpPr txBox="1"/>
          <p:nvPr/>
        </p:nvSpPr>
        <p:spPr>
          <a:xfrm>
            <a:off x="9144000" y="2921000"/>
            <a:ext cx="50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400" b="1">
                <a:solidFill>
                  <a:srgbClr val="FF0000"/>
                </a:solidFill>
              </a:rPr>
              <a:t>[ ]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96B97AE-60EA-8665-8CF2-961D233A47FA}"/>
              </a:ext>
            </a:extLst>
          </p:cNvPr>
          <p:cNvSpPr txBox="1"/>
          <p:nvPr/>
        </p:nvSpPr>
        <p:spPr>
          <a:xfrm>
            <a:off x="9144000" y="3492500"/>
            <a:ext cx="228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FF0000"/>
                </a:solidFill>
              </a:rPr>
              <a:t>Multi-plateforme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29F66F7-D5DF-EE4C-7DEF-A21FA6AAD04D}"/>
              </a:ext>
            </a:extLst>
          </p:cNvPr>
          <p:cNvSpPr txBox="1"/>
          <p:nvPr/>
        </p:nvSpPr>
        <p:spPr>
          <a:xfrm>
            <a:off x="9144000" y="3873500"/>
            <a:ext cx="2286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FF0000"/>
                </a:solidFill>
              </a:rPr>
              <a:t>API NestJS + Web React + Mobile React Native. Une experience unifiee sur tous les appareils.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A5754C7-4E87-054D-EB50-6FC66870FE50}"/>
              </a:ext>
            </a:extLst>
          </p:cNvPr>
          <p:cNvSpPr txBox="1"/>
          <p:nvPr/>
        </p:nvSpPr>
        <p:spPr>
          <a:xfrm>
            <a:off x="635000" y="50800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 b="1">
                <a:solidFill>
                  <a:srgbClr val="1B0000"/>
                </a:solidFill>
              </a:rPr>
              <a:t>9 roles utilisateurs   |   18 modules fonctionnels   |   3 modes de commande   |   3 types d'imprimantes</a:t>
            </a:r>
          </a:p>
        </p:txBody>
      </p:sp>
    </p:spTree>
    <p:extLst>
      <p:ext uri="{BB962C8B-B14F-4D97-AF65-F5344CB8AC3E}">
        <p14:creationId xmlns:p14="http://schemas.microsoft.com/office/powerpoint/2010/main" val="1374479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CB4DC-EC26-1757-2E2E-690785785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1AD1BE-BAA7-A6FD-ECEB-E2D8B7499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9EBB64-95FE-EF4E-C6EB-BD838E030D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603B7-9419-D81C-263D-05A412F71E84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CA15F2E-F848-0410-3D97-E33DE257018D}"/>
              </a:ext>
            </a:extLst>
          </p:cNvPr>
          <p:cNvSpPr txBox="1"/>
          <p:nvPr/>
        </p:nvSpPr>
        <p:spPr>
          <a:xfrm>
            <a:off x="635000" y="254000"/>
            <a:ext cx="1016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3600" b="1">
                <a:solidFill>
                  <a:srgbClr val="FF0000"/>
                </a:solidFill>
              </a:rPr>
              <a:t>Sommaire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4577264-86A4-A7E1-34FF-EA21E7487426}"/>
              </a:ext>
            </a:extLst>
          </p:cNvPr>
          <p:cNvSpPr txBox="1"/>
          <p:nvPr/>
        </p:nvSpPr>
        <p:spPr>
          <a:xfrm>
            <a:off x="1016000" y="17780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>
                <a:solidFill>
                  <a:srgbClr val="2D0000"/>
                </a:solidFill>
              </a:rPr>
              <a:t>1.  Vue d'ensemble du projet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F27976-2EE3-CDB4-8D99-2CFCC553A07C}"/>
              </a:ext>
            </a:extLst>
          </p:cNvPr>
          <p:cNvSpPr txBox="1"/>
          <p:nvPr/>
        </p:nvSpPr>
        <p:spPr>
          <a:xfrm>
            <a:off x="1016000" y="21336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>
                <a:solidFill>
                  <a:srgbClr val="2D0000"/>
                </a:solidFill>
              </a:rPr>
              <a:t>2.  Stack technique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F9230FA-72F5-117B-D15F-D71222B83CF6}"/>
              </a:ext>
            </a:extLst>
          </p:cNvPr>
          <p:cNvSpPr txBox="1"/>
          <p:nvPr/>
        </p:nvSpPr>
        <p:spPr>
          <a:xfrm>
            <a:off x="1016000" y="24892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>
                <a:solidFill>
                  <a:srgbClr val="2D0000"/>
                </a:solidFill>
              </a:rPr>
              <a:t>3.  Fonctionnalites principales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8138939-C148-12D5-50E5-655ED5DFF168}"/>
              </a:ext>
            </a:extLst>
          </p:cNvPr>
          <p:cNvSpPr txBox="1"/>
          <p:nvPr/>
        </p:nvSpPr>
        <p:spPr>
          <a:xfrm>
            <a:off x="1016000" y="28448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4.  Roles utilisateurs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8E36A80-6ED4-DFBF-78B8-373AE3A40B31}"/>
              </a:ext>
            </a:extLst>
          </p:cNvPr>
          <p:cNvSpPr txBox="1"/>
          <p:nvPr/>
        </p:nvSpPr>
        <p:spPr>
          <a:xfrm>
            <a:off x="1016000" y="32004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5.  Parcours client (QR Code)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04D84B1-C144-9605-7B4F-DB65BFADFA09}"/>
              </a:ext>
            </a:extLst>
          </p:cNvPr>
          <p:cNvSpPr txBox="1"/>
          <p:nvPr/>
        </p:nvSpPr>
        <p:spPr>
          <a:xfrm>
            <a:off x="1016000" y="35560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6.  Cycle de vie d'une commande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8475B63-19FB-368F-E548-9E45BD058640}"/>
              </a:ext>
            </a:extLst>
          </p:cNvPr>
          <p:cNvSpPr txBox="1"/>
          <p:nvPr/>
        </p:nvSpPr>
        <p:spPr>
          <a:xfrm>
            <a:off x="1016000" y="39116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7.  Dashboards cuisine et bar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89620B7-096B-7833-FC7F-A378F460E5EB}"/>
              </a:ext>
            </a:extLst>
          </p:cNvPr>
          <p:cNvSpPr txBox="1"/>
          <p:nvPr/>
        </p:nvSpPr>
        <p:spPr>
          <a:xfrm>
            <a:off x="1016000" y="42672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8.  Caisse et Paiements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335137F-B706-4B82-04CF-F87F3A36BA35}"/>
              </a:ext>
            </a:extLst>
          </p:cNvPr>
          <p:cNvSpPr txBox="1"/>
          <p:nvPr/>
        </p:nvSpPr>
        <p:spPr>
          <a:xfrm>
            <a:off x="1016000" y="46228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9.  Assistant IA (Claude)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F869FA2-691D-E7FB-52DC-73D97B35A12E}"/>
              </a:ext>
            </a:extLst>
          </p:cNvPr>
          <p:cNvSpPr txBox="1"/>
          <p:nvPr/>
        </p:nvSpPr>
        <p:spPr>
          <a:xfrm>
            <a:off x="1016000" y="49784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10. Notifications temps reel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38698EE-F74D-0B5A-3D60-DF9C56FA4E9B}"/>
              </a:ext>
            </a:extLst>
          </p:cNvPr>
          <p:cNvSpPr txBox="1"/>
          <p:nvPr/>
        </p:nvSpPr>
        <p:spPr>
          <a:xfrm>
            <a:off x="1016000" y="53340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11. Abonnement et Monetisation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4D977B-A8B2-CE83-6E80-21233A4D381B}"/>
              </a:ext>
            </a:extLst>
          </p:cNvPr>
          <p:cNvSpPr txBox="1"/>
          <p:nvPr/>
        </p:nvSpPr>
        <p:spPr>
          <a:xfrm>
            <a:off x="1016000" y="56896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12. Architecture globale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710D31B-7FAB-A634-7B9B-CD2B511CE2BD}"/>
              </a:ext>
            </a:extLst>
          </p:cNvPr>
          <p:cNvSpPr txBox="1"/>
          <p:nvPr/>
        </p:nvSpPr>
        <p:spPr>
          <a:xfrm>
            <a:off x="1016000" y="60452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13. Statistiques et Analytics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73682F0-B2A6-E0FA-5848-D5034FC4581B}"/>
              </a:ext>
            </a:extLst>
          </p:cNvPr>
          <p:cNvSpPr txBox="1"/>
          <p:nvPr/>
        </p:nvSpPr>
        <p:spPr>
          <a:xfrm>
            <a:off x="1016000" y="64008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2D0000"/>
                </a:solidFill>
              </a:rPr>
              <a:t>14. Projets complementaires</a:t>
            </a:r>
          </a:p>
        </p:txBody>
      </p:sp>
    </p:spTree>
    <p:extLst>
      <p:ext uri="{BB962C8B-B14F-4D97-AF65-F5344CB8AC3E}">
        <p14:creationId xmlns:p14="http://schemas.microsoft.com/office/powerpoint/2010/main" val="145243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BEAAC-67FD-C21A-922B-568A80AD4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2C08EC-A376-5527-3005-17A3D53B3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403623-930D-F817-1754-7015CD9047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2063D-470C-1CA9-326A-B9C5FFA1F53D}"/>
              </a:ext>
            </a:extLst>
          </p:cNvPr>
          <p:cNvSpPr/>
          <p:nvPr/>
        </p:nvSpPr>
        <p:spPr>
          <a:xfrm>
            <a:off x="635000" y="3175000"/>
            <a:ext cx="6350000" cy="76200"/>
          </a:xfrm>
          <a:prstGeom prst="rect">
            <a:avLst/>
          </a:prstGeom>
          <a:solidFill>
            <a:srgbClr val="E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14C6577-F73F-AA8D-830E-E72EB5AB31FB}"/>
              </a:ext>
            </a:extLst>
          </p:cNvPr>
          <p:cNvSpPr txBox="1"/>
          <p:nvPr/>
        </p:nvSpPr>
        <p:spPr>
          <a:xfrm>
            <a:off x="635000" y="1270000"/>
            <a:ext cx="10160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5600" b="1">
                <a:solidFill>
                  <a:srgbClr val="FF0000"/>
                </a:solidFill>
              </a:rPr>
              <a:t>RestoPro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9E40C0-FF57-F17F-F018-86E133B79414}"/>
              </a:ext>
            </a:extLst>
          </p:cNvPr>
          <p:cNvSpPr txBox="1"/>
          <p:nvPr/>
        </p:nvSpPr>
        <p:spPr>
          <a:xfrm>
            <a:off x="635000" y="3429000"/>
            <a:ext cx="1016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800">
                <a:solidFill>
                  <a:srgbClr val="FF0000"/>
                </a:solidFill>
              </a:rPr>
              <a:t>Systeme de Gestion de Restaurant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196A41-3490-8B3C-2BF6-683B1389EB9D}"/>
              </a:ext>
            </a:extLst>
          </p:cNvPr>
          <p:cNvSpPr txBox="1"/>
          <p:nvPr/>
        </p:nvSpPr>
        <p:spPr>
          <a:xfrm>
            <a:off x="635000" y="4191000"/>
            <a:ext cx="1016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>
                <a:solidFill>
                  <a:srgbClr val="E80000"/>
                </a:solidFill>
              </a:rPr>
              <a:t>Commande par QR Code . Assistant IA . Temps Reel . Gestion Complete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2670321-A9B4-1C7D-DEDE-575B19A479BC}"/>
              </a:ext>
            </a:extLst>
          </p:cNvPr>
          <p:cNvSpPr txBox="1"/>
          <p:nvPr/>
        </p:nvSpPr>
        <p:spPr>
          <a:xfrm>
            <a:off x="635000" y="50800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v5.0 -- Juin 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5B459F1-491B-AB88-4612-067BF46E09EF}"/>
              </a:ext>
            </a:extLst>
          </p:cNvPr>
          <p:cNvSpPr txBox="1"/>
          <p:nvPr/>
        </p:nvSpPr>
        <p:spPr>
          <a:xfrm>
            <a:off x="635000" y="58420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710000"/>
                </a:solidFill>
              </a:rPr>
              <a:t>NestJS  |  MySQL  |  Socket.IO  |  Claude AI  |  React  |  React Native</a:t>
            </a:r>
          </a:p>
        </p:txBody>
      </p:sp>
    </p:spTree>
    <p:extLst>
      <p:ext uri="{BB962C8B-B14F-4D97-AF65-F5344CB8AC3E}">
        <p14:creationId xmlns:p14="http://schemas.microsoft.com/office/powerpoint/2010/main" val="29778069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2342</Words>
  <Application>Microsoft Office PowerPoint</Application>
  <PresentationFormat>Grand écran</PresentationFormat>
  <Paragraphs>384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Fabrice Kassi</dc:creator>
  <cp:lastModifiedBy>Fabrice Kassi</cp:lastModifiedBy>
  <cp:revision>1</cp:revision>
  <dcterms:created xsi:type="dcterms:W3CDTF">2026-06-13T13:31:02Z</dcterms:created>
  <dcterms:modified xsi:type="dcterms:W3CDTF">2026-06-13T13:31:02Z</dcterms:modified>
</cp:coreProperties>
</file>